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77724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DevTrack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14300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A4A8C3"/>
                </a:solidFill>
                <a:latin typeface="Segoe UI"/>
              </a:rPr>
              <a:t>Final DevOps Capstone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6766560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Segoe UI"/>
              </a:rPr>
              <a:t>From commit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Segoe UI"/>
              </a:rPr>
              <a:t>to running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5000" b="1">
                <a:solidFill>
                  <a:srgbClr val="818CF8"/>
                </a:solidFill>
                <a:latin typeface="Segoe UI"/>
              </a:rPr>
              <a:t>to observed.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38528" y="45720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0EA5E9"/>
                </a:solidFill>
                <a:latin typeface="Segoe UI"/>
              </a:rPr>
              <a:t>BUILD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5536" y="45720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45720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818CF8"/>
                </a:solidFill>
                <a:latin typeface="Segoe UI"/>
              </a:rPr>
              <a:t>DEPLOY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59552" y="45720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C4899"/>
                </a:solidFill>
                <a:latin typeface="Segoe UI"/>
              </a:rPr>
              <a:t>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Jinesh Gandhi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A4A8C3"/>
                </a:solidFill>
                <a:latin typeface="Consolas"/>
              </a:rPr>
              <a:t>github.com/jineshgandhi79/Devops-capstone</a:t>
            </a:r>
          </a:p>
        </p:txBody>
      </p:sp>
      <p:pic>
        <p:nvPicPr>
          <p:cNvPr id="12" name="Picture 11" descr="M1-applicatio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1416"/>
            <a:ext cx="4434840" cy="3846607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01 • 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Organise the work. Ship it reliably.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DevTrack Todo pairs a useful everyday product with a production-style delivery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2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93392"/>
            <a:ext cx="54864" cy="16824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The product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5029200" cy="1417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Tasks live in heads, chats and sticky notes. People need one place to capture todos, set priorities and due dates, group them by category and see what is overdue.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993392"/>
            <a:ext cx="54864" cy="168249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6596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The delivery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31720"/>
            <a:ext cx="5029200" cy="1417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Manual releases are hard to reproduce. Untested code, unscanned images and missing metrics turn every deployment into a risk.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10972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Project goals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7200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736592"/>
            <a:ext cx="54864" cy="131673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2286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Working 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074920"/>
            <a:ext cx="228600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Full CRUD todo app with filters, stats and a responsive 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2" y="457200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4736592"/>
            <a:ext cx="54864" cy="13167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93592" y="4709160"/>
            <a:ext cx="2286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Quality gates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93592" y="5074920"/>
            <a:ext cx="228600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Automated tests and image scanning before anything ships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457200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4736592"/>
            <a:ext cx="54864" cy="131673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9944" y="4709160"/>
            <a:ext cx="2286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Reproducible infra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5074920"/>
            <a:ext cx="228600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AWS network and EKS cluster described as code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7696" y="457200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97696" y="4736592"/>
            <a:ext cx="54864" cy="13167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26296" y="4709160"/>
            <a:ext cx="2286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Observable runtime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5074920"/>
            <a:ext cx="228600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Health probes, metrics and dashboards in production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02 •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A focused todo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Screenshots captured from the running Docker Compose stack.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3 / 18</a:t>
            </a:r>
          </a:p>
        </p:txBody>
      </p:sp>
      <p:pic>
        <p:nvPicPr>
          <p:cNvPr id="8" name="Picture 7" descr="M1-application-dashboard.png"/>
          <p:cNvPicPr>
            <a:picLocks noChangeAspect="1"/>
          </p:cNvPicPr>
          <p:nvPr/>
        </p:nvPicPr>
        <p:blipFill>
          <a:blip r:embed="rId2"/>
          <a:srcRect b="21822"/>
          <a:stretch>
            <a:fillRect/>
          </a:stretch>
        </p:blipFill>
        <p:spPr>
          <a:xfrm>
            <a:off x="548640" y="1737360"/>
            <a:ext cx="6675120" cy="452628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498079" y="181051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1737360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Smart views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All · Active · Due today · Overdue · Completed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56946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496312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Organise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Priorities, categories and due dates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328415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255263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Find fast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Search, category filter and 4 sort orders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408736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014215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Track progress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Live stat cards and completion bar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484632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773168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Edit in place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Modal editor, one-click complete, safe delete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560527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532119"/>
            <a:ext cx="38404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Responsive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Desktop sidebar → mobile scrolling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03 •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Four paths through one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Request path, delivery path, GitOps path and infrastructure / observability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3852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REQUEST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182880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Browser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86783" y="2112264"/>
            <a:ext cx="283465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288536" y="182880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Ingress NGINX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97879" y="2112264"/>
            <a:ext cx="283465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99631" y="182880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React SPA (Nginx)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08975" y="2112264"/>
            <a:ext cx="283465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10727" y="182880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FastAPI /api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20072" y="2112264"/>
            <a:ext cx="283464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21824" y="182880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99008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Segoe UI"/>
              </a:rPr>
              <a:t>DELIVERY PATH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288036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git push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86783" y="3163824"/>
            <a:ext cx="283465" cy="0"/>
          </a:xfrm>
          <a:prstGeom prst="line">
            <a:avLst/>
          </a:prstGeom>
          <a:ln w="22225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8536" y="288036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pytest + build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97879" y="3163824"/>
            <a:ext cx="283465" cy="0"/>
          </a:xfrm>
          <a:prstGeom prst="line">
            <a:avLst/>
          </a:prstGeom>
          <a:ln w="22225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99631" y="288036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Docker build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08975" y="3163824"/>
            <a:ext cx="283465" cy="0"/>
          </a:xfrm>
          <a:prstGeom prst="line">
            <a:avLst/>
          </a:prstGeom>
          <a:ln w="22225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10727" y="288036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Trivy scan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20072" y="3163824"/>
            <a:ext cx="283464" cy="0"/>
          </a:xfrm>
          <a:prstGeom prst="line">
            <a:avLst/>
          </a:prstGeom>
          <a:ln w="22225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21824" y="288036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GHCR :sha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04164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GITOPS PATH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7440" y="393192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CI pins SHA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986783" y="4215383"/>
            <a:ext cx="283465" cy="0"/>
          </a:xfrm>
          <a:prstGeom prst="line">
            <a:avLst/>
          </a:prstGeom>
          <a:ln w="22225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288536" y="393192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values.yaml commit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897879" y="4215383"/>
            <a:ext cx="283465" cy="0"/>
          </a:xfrm>
          <a:prstGeom prst="line">
            <a:avLst/>
          </a:prstGeom>
          <a:ln w="22225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99631" y="393192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ArgoCD sync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808975" y="4215383"/>
            <a:ext cx="283465" cy="0"/>
          </a:xfrm>
          <a:prstGeom prst="line">
            <a:avLst/>
          </a:prstGeom>
          <a:ln w="22225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10727" y="393192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Helm release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720072" y="4215383"/>
            <a:ext cx="283464" cy="0"/>
          </a:xfrm>
          <a:prstGeom prst="line">
            <a:avLst/>
          </a:prstGeom>
          <a:ln w="22225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021824" y="393192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Rolling update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9320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0EA5E9"/>
                </a:solidFill>
                <a:latin typeface="Segoe UI"/>
              </a:rPr>
              <a:t>PLATFORM PATH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77440" y="498348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Terraform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986783" y="5266944"/>
            <a:ext cx="283465" cy="0"/>
          </a:xfrm>
          <a:prstGeom prst="line">
            <a:avLst/>
          </a:prstGeom>
          <a:ln w="22225">
            <a:solidFill>
              <a:srgbClr val="0EA5E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288536" y="498348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VPC + subnets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97879" y="5266944"/>
            <a:ext cx="283465" cy="0"/>
          </a:xfrm>
          <a:prstGeom prst="line">
            <a:avLst/>
          </a:prstGeom>
          <a:ln w="22225">
            <a:solidFill>
              <a:srgbClr val="0EA5E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199631" y="498348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EKS + nodes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808975" y="5266944"/>
            <a:ext cx="283465" cy="0"/>
          </a:xfrm>
          <a:prstGeom prst="line">
            <a:avLst/>
          </a:prstGeom>
          <a:ln w="22225">
            <a:solidFill>
              <a:srgbClr val="0EA5E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110727" y="498348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Prometheus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720072" y="5266944"/>
            <a:ext cx="283464" cy="0"/>
          </a:xfrm>
          <a:prstGeom prst="line">
            <a:avLst/>
          </a:prstGeom>
          <a:ln w="22225">
            <a:solidFill>
              <a:srgbClr val="0EA5E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021824" y="4983480"/>
            <a:ext cx="1591055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C1F2E"/>
                </a:solidFill>
                <a:latin typeface="Segoe UI"/>
              </a:rPr>
              <a:t>Grafana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Rule: the cluster only changes through Git, so every running image traces back to a commit SHA.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04 •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Every layer has one clear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356616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Frontend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React 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Vite 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889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Oxlint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7440" y="27889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Nginx unprivileged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60020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79" y="1600200"/>
            <a:ext cx="356616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82880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Backend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79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FastAPI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79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Pydantic v2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79" y="27889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SQLAlchemy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79" y="27889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Alembic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160020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19" y="1600200"/>
            <a:ext cx="356616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19" y="182880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Data &amp;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75319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PostgreSQL 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19" y="23317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Pytest (28 tests)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19" y="278892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SQLite test 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977639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977639"/>
            <a:ext cx="3566160" cy="7315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20624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Delivery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Docker / Compose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GitHub Actions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1663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Trivy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77440" y="51663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GHCR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79" y="3977639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97679" y="3977639"/>
            <a:ext cx="3566160" cy="73152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79" y="420624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Platform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26279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Terraform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79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AWS VPC + EKS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6279" y="51663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Helm 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79" y="51663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ArgoCD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19" y="3977639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46719" y="3977639"/>
            <a:ext cx="3566160" cy="7315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19" y="420624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Observability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75319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Prometheus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75519" y="47091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Grafana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75319" y="5166359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1C1F2E"/>
                </a:solidFill>
                <a:latin typeface="Segoe UI"/>
              </a:rPr>
              <a:t>Health / ready probes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05 • BACKEND, DATA &amp;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A validated REST API with isolated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28 pytest tests pass locally; CI also applies the migrations to a real PostgreSQL service.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6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557784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20239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874519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892807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list · filter · search · sort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395727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50008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/api/todos/stats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36829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dashboard counters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871215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825496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/api/todos/{id}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43784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read 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46703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300984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31927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create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822191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776472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/api/todos/{id}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794759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partial update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29768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PATCH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251960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/api/todos/{id}/toggle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427024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complete / reopen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77316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DELETE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727448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/api/todos/{id}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74573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delete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248655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DELETE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202936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/api/todos/completed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5221223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clear completed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7241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5678424"/>
            <a:ext cx="2651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1C1F2E"/>
                </a:solidFill>
                <a:latin typeface="Consolas"/>
              </a:rPr>
              <a:t>/health · /ready · /metrics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569671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operations</a:t>
            </a:r>
          </a:p>
        </p:txBody>
      </p:sp>
      <p:pic>
        <p:nvPicPr>
          <p:cNvPr id="36" name="Picture 35" descr="M2-pytest-pa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14906"/>
            <a:ext cx="5257800" cy="4171188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06 • CONTAINERS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A reproducible local stack in dependency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docker compose up --build starts PostgreSQL, then the API (after migrations), then the frontend.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01952"/>
            <a:ext cx="54864" cy="1179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40280"/>
            <a:ext cx="3154680" cy="9143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postgres:16-alpine
Named data volume
pg_isready health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87368" y="2487168"/>
            <a:ext cx="192024" cy="0"/>
          </a:xfrm>
          <a:prstGeom prst="line">
            <a:avLst/>
          </a:prstGeom>
          <a:ln w="22225">
            <a:solidFill>
              <a:srgbClr val="6B70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97679" y="173736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79" y="1901952"/>
            <a:ext cx="54864" cy="1179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9" y="1874519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240280"/>
            <a:ext cx="3154680" cy="9143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python:3.12-slim, non-root UID 1000
alembic upgrade head → uvicorn
/health check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36408" y="2487168"/>
            <a:ext cx="192023" cy="0"/>
          </a:xfrm>
          <a:prstGeom prst="line">
            <a:avLst/>
          </a:prstGeom>
          <a:ln w="22225">
            <a:solidFill>
              <a:srgbClr val="6B70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46719" y="173736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19" y="1901952"/>
            <a:ext cx="54864" cy="11795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874519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Frontend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240280"/>
            <a:ext cx="3154680" cy="9143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Multi-stage: node:20 → nginx
Unprivileged, port 8080
Proxies /api to backend</a:t>
            </a:r>
          </a:p>
        </p:txBody>
      </p:sp>
      <p:pic>
        <p:nvPicPr>
          <p:cNvPr id="22" name="Picture 21" descr="M4-docker-compose-running.png"/>
          <p:cNvPicPr>
            <a:picLocks noChangeAspect="1"/>
          </p:cNvPicPr>
          <p:nvPr/>
        </p:nvPicPr>
        <p:blipFill>
          <a:blip r:embed="rId2"/>
          <a:srcRect b="8910"/>
          <a:stretch>
            <a:fillRect/>
          </a:stretch>
        </p:blipFill>
        <p:spPr>
          <a:xfrm>
            <a:off x="548640" y="3474720"/>
            <a:ext cx="6400800" cy="278892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pic>
        <p:nvPicPr>
          <p:cNvPr id="23" name="Picture 22" descr="M4-postgres-todos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758374"/>
            <a:ext cx="4480560" cy="2221611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07 • CI/CD &amp; DEVSECOPS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Quality gates before a SHA-tagged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.github/workflows/ci.yml — run #3 on commit 85c2edf: all five jobs green in 1 m 44 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8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Push /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main branch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58568" y="2468880"/>
            <a:ext cx="164592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32304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96896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6896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6896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pytest + alembic
on PostgreSQL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42232" y="2468880"/>
            <a:ext cx="164592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315968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lint + vite build
docker images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25896" y="2468880"/>
            <a:ext cx="164592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99631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3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3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Scan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3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Trivy HIGH/CRITICAL
vuln + secrets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9559" y="2468880"/>
            <a:ext cx="164592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83296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Publish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GHCR
:sha and :latest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793224" y="2468880"/>
            <a:ext cx="164592" cy="0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966960" y="1737360"/>
            <a:ext cx="1700784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1552" y="1810512"/>
            <a:ext cx="1371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31552" y="2057400"/>
            <a:ext cx="1463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Deploy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31552" y="2423160"/>
            <a:ext cx="1463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pin SHA in Helm
values (GitOps)</a:t>
            </a:r>
          </a:p>
        </p:txBody>
      </p:sp>
      <p:pic>
        <p:nvPicPr>
          <p:cNvPr id="37" name="Picture 36" descr="M5-github-actions-success.png"/>
          <p:cNvPicPr>
            <a:picLocks noChangeAspect="1"/>
          </p:cNvPicPr>
          <p:nvPr/>
        </p:nvPicPr>
        <p:blipFill>
          <a:blip r:embed="rId2"/>
          <a:srcRect b="18017"/>
          <a:stretch>
            <a:fillRect/>
          </a:stretch>
        </p:blipFill>
        <p:spPr>
          <a:xfrm>
            <a:off x="548640" y="3429000"/>
            <a:ext cx="5532120" cy="283464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pic>
        <p:nvPicPr>
          <p:cNvPr id="38" name="Picture 37" descr="M6-trivy-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839260"/>
            <a:ext cx="5394960" cy="2014118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08 • REGISTRY &amp;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Every green run publishes and pins an immutable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CI pushes ghcr.io/jineshgandhi79/devtrack-*:&lt;sha&gt;, then github-actions[bot] commits that SHA to helm/devtrack/values.yaml.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9 / 18</a:t>
            </a:r>
          </a:p>
        </p:txBody>
      </p:sp>
      <p:pic>
        <p:nvPicPr>
          <p:cNvPr id="8" name="Picture 7" descr="M3-github-commit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71712"/>
            <a:ext cx="5532120" cy="3457574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pic>
        <p:nvPicPr>
          <p:cNvPr id="9" name="Picture 8" descr="M5-ghcr-pack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314575"/>
            <a:ext cx="5394960" cy="337185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09 • INFRASTRUCTURE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Terraform describes the AWS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Region ap-southeast-2 (Sydney) • terraform init → validate → plan → apply →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10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676656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EA5E9"/>
                </a:solidFill>
                <a:latin typeface="Segoe UI"/>
              </a:rPr>
              <a:t>VPC  •  10.0.0.0/16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86000"/>
            <a:ext cx="3063240" cy="3749039"/>
          </a:xfrm>
          <a:prstGeom prst="roundRect">
            <a:avLst>
              <a:gd name="adj" fmla="val 8000"/>
            </a:avLst>
          </a:prstGeom>
          <a:solidFill>
            <a:srgbClr val="F4F5FB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18288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6B7086"/>
                </a:solidFill>
                <a:latin typeface="Segoe UI"/>
              </a:rPr>
              <a:t>AZ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2743200"/>
            <a:ext cx="2697480" cy="105156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Public subnet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10.0.1.0/24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IGW + NAT 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977639"/>
            <a:ext cx="2697480" cy="1874519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Private subnet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10.0.10.0/24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EKS worker nodes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t3.medium (AL2023)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2286000"/>
            <a:ext cx="3063240" cy="3749039"/>
          </a:xfrm>
          <a:prstGeom prst="roundRect">
            <a:avLst>
              <a:gd name="adj" fmla="val 8000"/>
            </a:avLst>
          </a:prstGeom>
          <a:solidFill>
            <a:srgbClr val="F4F5FB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377440"/>
            <a:ext cx="18288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6B7086"/>
                </a:solidFill>
                <a:latin typeface="Segoe UI"/>
              </a:rPr>
              <a:t>AZ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743200"/>
            <a:ext cx="2697480" cy="105156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Public subnet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10.0.2.0/24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IGW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977639"/>
            <a:ext cx="2697480" cy="1874519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Private subnet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10.0.11.0/24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EKS worker nodes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t3.medium (AL2023)</a:t>
            </a:r>
          </a:p>
        </p:txBody>
      </p:sp>
      <p:pic>
        <p:nvPicPr>
          <p:cNvPr id="18" name="Picture 17" descr="M7-terraform-validate.png"/>
          <p:cNvPicPr>
            <a:picLocks noChangeAspect="1"/>
          </p:cNvPicPr>
          <p:nvPr/>
        </p:nvPicPr>
        <p:blipFill>
          <a:blip r:embed="rId2"/>
          <a:srcRect b="3692"/>
          <a:stretch>
            <a:fillRect/>
          </a:stretch>
        </p:blipFill>
        <p:spPr>
          <a:xfrm>
            <a:off x="7589520" y="1737360"/>
            <a:ext cx="4069080" cy="214884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sp>
        <p:nvSpPr>
          <p:cNvPr id="19" name="Rounded Rectangle 18"/>
          <p:cNvSpPr/>
          <p:nvPr/>
        </p:nvSpPr>
        <p:spPr>
          <a:xfrm>
            <a:off x="7589520" y="4114800"/>
            <a:ext cx="4069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B8D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4F46E5"/>
                </a:solidFill>
                <a:latin typeface="Segoe UI"/>
              </a:rPr>
              <a:t>📷  Add your screenshot</a:t>
            </a:r>
          </a:p>
          <a:p>
            <a:pPr algn="ctr"/>
            <a:r>
              <a:rPr sz="1200" b="0">
                <a:solidFill>
                  <a:srgbClr val="1C1F2E"/>
                </a:solidFill>
                <a:latin typeface="Segoe UI"/>
              </a:rPr>
              <a:t>EKS cluster &amp; VPC in the AWS console</a:t>
            </a:r>
          </a:p>
          <a:p>
            <a:pPr algn="ctr"/>
            <a:r>
              <a:rPr sz="1100" b="0">
                <a:solidFill>
                  <a:srgbClr val="6B7086"/>
                </a:solidFill>
                <a:latin typeface="Consolas"/>
              </a:rPr>
              <a:t>terraform plan / apply
(needs AWS credentials)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10 • KUBERNETES &amp; HELM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Declarative delivery with probes and self-healing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Shown on a local 3-node kind cluster running the CI-built GHCR images; the same chart targets EKS.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11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676656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Segoe UI"/>
              </a:rPr>
              <a:t>Cluster  •  namespace: devtrack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2331720"/>
            <a:ext cx="3108960" cy="54864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Ingress NGINX  ( /  ·  /api  ·  /docs 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83280"/>
            <a:ext cx="1828800" cy="1691640"/>
          </a:xfrm>
          <a:prstGeom prst="roundRect">
            <a:avLst>
              <a:gd name="adj" fmla="val 8000"/>
            </a:avLst>
          </a:prstGeom>
          <a:solidFill>
            <a:srgbClr val="F4F5FB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C1F2E"/>
                </a:solidFill>
                <a:latin typeface="Segoe UI"/>
              </a:rPr>
              <a:t>Frontend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3 replicas
Service :80 → :8080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3383280"/>
            <a:ext cx="1828800" cy="1691640"/>
          </a:xfrm>
          <a:prstGeom prst="roundRect">
            <a:avLst>
              <a:gd name="adj" fmla="val 8000"/>
            </a:avLst>
          </a:prstGeom>
          <a:solidFill>
            <a:srgbClr val="F4F5FB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C1F2E"/>
                </a:solidFill>
                <a:latin typeface="Segoe UI"/>
              </a:rPr>
              <a:t>Backend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2 replicas
/health · /ready probes
Service :8000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3383280"/>
            <a:ext cx="1828800" cy="1691640"/>
          </a:xfrm>
          <a:prstGeom prst="roundRect">
            <a:avLst>
              <a:gd name="adj" fmla="val 8000"/>
            </a:avLst>
          </a:prstGeom>
          <a:solidFill>
            <a:srgbClr val="F4F5FB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C1F2E"/>
                </a:solidFill>
                <a:latin typeface="Segoe UI"/>
              </a:rPr>
              <a:t>PostgreSQL</a:t>
            </a:r>
          </a:p>
          <a:p>
            <a:pPr algn="ctr"/>
            <a:r>
              <a:rPr sz="1000" b="0">
                <a:solidFill>
                  <a:srgbClr val="6B7086"/>
                </a:solidFill>
                <a:latin typeface="Segoe UI"/>
              </a:rPr>
              <a:t>1 replica + PVC
Service :5432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737360" y="2880360"/>
            <a:ext cx="1554480" cy="484632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931920" y="2880360"/>
            <a:ext cx="45719" cy="484632"/>
          </a:xfrm>
          <a:prstGeom prst="line">
            <a:avLst/>
          </a:prstGeom>
          <a:ln w="22225">
            <a:solidFill>
              <a:srgbClr val="4F4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10328" y="4224528"/>
            <a:ext cx="374904" cy="0"/>
          </a:xfrm>
          <a:prstGeom prst="line">
            <a:avLst/>
          </a:prstGeom>
          <a:ln w="22225">
            <a:solidFill>
              <a:srgbClr val="6B70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60" y="5303520"/>
            <a:ext cx="6309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Rolling update to the new SHA completed with 0 restarts • backend waits for PostgreSQL before migrating • non-root containers • requests and limits on every container</a:t>
            </a:r>
          </a:p>
        </p:txBody>
      </p:sp>
      <p:pic>
        <p:nvPicPr>
          <p:cNvPr id="18" name="Picture 17" descr="M8-kubernetes-p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087822"/>
            <a:ext cx="4069080" cy="1447914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pic>
        <p:nvPicPr>
          <p:cNvPr id="19" name="Picture 18" descr="M8-helm-rel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4394053"/>
            <a:ext cx="4069080" cy="1590332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11 • GITOPS &amp; AUTOSCALING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Git drives the rollout; load drives the replica 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ArgoCD syncs helm/devtrack from main (bot-pinned SHA); the HPA scaled the backend 2 → 6 under load and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12 / 18</a:t>
            </a:r>
          </a:p>
        </p:txBody>
      </p:sp>
      <p:pic>
        <p:nvPicPr>
          <p:cNvPr id="8" name="Picture 7" descr="M8-argocd-devtrack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71712"/>
            <a:ext cx="5532120" cy="3457574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pic>
        <p:nvPicPr>
          <p:cNvPr id="9" name="Picture 8" descr="M8-hpa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615793"/>
            <a:ext cx="5394960" cy="2769412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12 •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Instrumented in code, scraped by Prometheus, shown in Grafana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42062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64792"/>
            <a:ext cx="54864" cy="10881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384047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Instrument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840479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FastAPI middleware records devtrack_http_requests_total and a latency histogram per route template.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72968"/>
            <a:ext cx="42062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" cy="10881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7"/>
            <a:ext cx="384047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Collect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75887"/>
            <a:ext cx="3840479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Prometheus scrapes devtrack-backend:8000/metrics every 15 seconds — target UP (1/1).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45736"/>
            <a:ext cx="42062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910327"/>
            <a:ext cx="54864" cy="108813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82896"/>
            <a:ext cx="384047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C1F2E"/>
                </a:solidFill>
                <a:latin typeface="Segoe UI"/>
              </a:rPr>
              <a:t>Visualise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48655"/>
            <a:ext cx="3840479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Grafana dashboard: availability, request rate, P95 latency, 5xx errors, memory and CPU.</a:t>
            </a:r>
          </a:p>
        </p:txBody>
      </p:sp>
      <p:pic>
        <p:nvPicPr>
          <p:cNvPr id="19" name="Picture 18" descr="M9-grafana-dashboard.png"/>
          <p:cNvPicPr>
            <a:picLocks noChangeAspect="1"/>
          </p:cNvPicPr>
          <p:nvPr/>
        </p:nvPicPr>
        <p:blipFill>
          <a:blip r:embed="rId2"/>
          <a:srcRect b="33151"/>
          <a:stretch>
            <a:fillRect/>
          </a:stretch>
        </p:blipFill>
        <p:spPr>
          <a:xfrm>
            <a:off x="4983480" y="1600200"/>
            <a:ext cx="6675120" cy="278892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pic>
        <p:nvPicPr>
          <p:cNvPr id="20" name="Picture 19" descr="M9-prometheus-targets.png"/>
          <p:cNvPicPr>
            <a:picLocks noChangeAspect="1"/>
          </p:cNvPicPr>
          <p:nvPr/>
        </p:nvPicPr>
        <p:blipFill>
          <a:blip r:embed="rId3"/>
          <a:srcRect b="16620"/>
          <a:stretch>
            <a:fillRect/>
          </a:stretch>
        </p:blipFill>
        <p:spPr>
          <a:xfrm>
            <a:off x="4983480" y="4572000"/>
            <a:ext cx="3246120" cy="169164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pic>
        <p:nvPicPr>
          <p:cNvPr id="21" name="Picture 20" descr="M9-prometheus-query.png"/>
          <p:cNvPicPr>
            <a:picLocks noChangeAspect="1"/>
          </p:cNvPicPr>
          <p:nvPr/>
        </p:nvPicPr>
        <p:blipFill>
          <a:blip r:embed="rId4"/>
          <a:srcRect b="16620"/>
          <a:stretch>
            <a:fillRect/>
          </a:stretch>
        </p:blipFill>
        <p:spPr>
          <a:xfrm>
            <a:off x="8412480" y="4572000"/>
            <a:ext cx="3246120" cy="169164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13 • TROUBLESHOOTING &amp; RESILIENCE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Diagnose from evidence, then fix the cause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Both drills were executed on the cluster — the terminal evidence is on the next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14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544068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37360"/>
            <a:ext cx="5440680" cy="7315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65960"/>
            <a:ext cx="4937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C1F2E"/>
                </a:solidFill>
                <a:latin typeface="Segoe UI"/>
              </a:rPr>
              <a:t>Drill 1 • ImagePullBackOff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25603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Inject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542032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Start a pod whose image tag does not exist in GHCR.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" y="3364991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Observe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346703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kubectl get pod → ErrImagePull / ImagePullBackOff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59" y="4169663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Diagnose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151376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kubectl describe pod → 'Failed to pull image … NotFound'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" y="4974336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Fix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956048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Recreate it with a real commit-SHA tag published by CI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544068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544068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C1F2E"/>
                </a:solidFill>
                <a:latin typeface="Segoe UI"/>
              </a:rPr>
              <a:t>Drill 2 • Service with no endpoints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5603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Inject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542032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Service selector typo: app=lab-wbe instead of lab-web.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364991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Observe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346703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curl http://lab-web fails; endpoints show &lt;none&gt;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4169663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Diagnose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151376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Compare the Service selector with pod --show-labels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4974336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956048"/>
            <a:ext cx="3657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F2E"/>
                </a:solidFill>
                <a:latin typeface="Segoe UI"/>
              </a:rPr>
              <a:t>kubectl patch the selector → endpoints appear, HTTP 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6B7086"/>
                </a:solidFill>
                <a:latin typeface="Segoe UI"/>
              </a:rPr>
              <a:t>Found while drilling: Nginx crashed when the backend name was unresolvable — fixed by resolving it per request.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14 • DRILLS, EXECUTED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Real output from the troubleshooting-lab namespace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15 / 18</a:t>
            </a:r>
          </a:p>
        </p:txBody>
      </p:sp>
      <p:pic>
        <p:nvPicPr>
          <p:cNvPr id="7" name="Picture 6" descr="M10-troubleshooting-imagepullback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8538"/>
            <a:ext cx="5532120" cy="3323882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pic>
        <p:nvPicPr>
          <p:cNvPr id="8" name="Picture 7" descr="M10-troubleshooting-service-sele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172538"/>
            <a:ext cx="5394960" cy="3335883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15 •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Evidence captured on 16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6B7086"/>
                </a:solidFill>
                <a:latin typeface="Segoe UI"/>
              </a:rPr>
              <a:t>Everything below was run for real; only the AWS EKS deployment still needs cloud credentials.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16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282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91640"/>
            <a:ext cx="51206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>
                <a:solidFill>
                  <a:srgbClr val="1C1F2E"/>
                </a:solidFill>
                <a:latin typeface="Segoe UI"/>
              </a:rPr>
              <a:t>Application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Todo CRUD, filters and stats through Nginx and the Ingress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7685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240280"/>
            <a:ext cx="51206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>
                <a:solidFill>
                  <a:srgbClr val="1C1F2E"/>
                </a:solidFill>
                <a:latin typeface="Segoe UI"/>
              </a:rPr>
              <a:t>Tests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28 / 28 pytest; migration matches models; CI on PostgreSQL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254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788920"/>
            <a:ext cx="51206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>
                <a:solidFill>
                  <a:srgbClr val="1C1F2E"/>
                </a:solidFill>
                <a:latin typeface="Segoe UI"/>
              </a:rPr>
              <a:t>Security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Trivy 0 HIGH / 0 CRITICAL locally and as a CI 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741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37560"/>
            <a:ext cx="51206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>
                <a:solidFill>
                  <a:srgbClr val="1C1F2E"/>
                </a:solidFill>
                <a:latin typeface="Segoe UI"/>
              </a:rPr>
              <a:t>CI/CD &amp; registry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All 5 jobs green; SHA-tagged images public in GHCR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227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886200"/>
            <a:ext cx="51206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>
                <a:solidFill>
                  <a:srgbClr val="1C1F2E"/>
                </a:solidFill>
                <a:latin typeface="Segoe UI"/>
              </a:rPr>
              <a:t>GitOps &amp; HPA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ArgoCD syncs bot-pinned SHAs; HPA scaled 2 → 6 →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714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434840"/>
            <a:ext cx="51206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>
                <a:solidFill>
                  <a:srgbClr val="1C1F2E"/>
                </a:solidFill>
                <a:latin typeface="Segoe UI"/>
              </a:rPr>
              <a:t>Kubernetes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Helm release on 3-node cluster pulling GHCR images, 0 restarts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20055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83479"/>
            <a:ext cx="51206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>
                <a:solidFill>
                  <a:srgbClr val="1C1F2E"/>
                </a:solidFill>
                <a:latin typeface="Segoe UI"/>
              </a:rPr>
              <a:t>Observability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Prometheus target UP; Grafana panels populated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686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32120"/>
            <a:ext cx="51206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>
                <a:solidFill>
                  <a:srgbClr val="1C1F2E"/>
                </a:solidFill>
                <a:latin typeface="Segoe UI"/>
              </a:rPr>
              <a:t>Terraform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init, fmt -check and validate pass</a:t>
            </a:r>
          </a:p>
        </p:txBody>
      </p:sp>
      <p:pic>
        <p:nvPicPr>
          <p:cNvPr id="24" name="Picture 23" descr="M8-ingress-application.png"/>
          <p:cNvPicPr>
            <a:picLocks noChangeAspect="1"/>
          </p:cNvPicPr>
          <p:nvPr/>
        </p:nvPicPr>
        <p:blipFill>
          <a:blip r:embed="rId2"/>
          <a:srcRect b="171"/>
          <a:stretch>
            <a:fillRect/>
          </a:stretch>
        </p:blipFill>
        <p:spPr>
          <a:xfrm>
            <a:off x="6309360" y="1691640"/>
            <a:ext cx="5349240" cy="3337560"/>
          </a:xfrm>
          <a:prstGeom prst="rect">
            <a:avLst/>
          </a:prstGeom>
          <a:ln w="12700">
            <a:solidFill>
              <a:srgbClr val="E4E6EF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6309360" y="5074920"/>
            <a:ext cx="53492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086"/>
                </a:solidFill>
                <a:latin typeface="Segoe UI"/>
              </a:rPr>
              <a:t>App served through the Ingress (localhost:8081 on the local cluster)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5440680"/>
            <a:ext cx="5349240" cy="82296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200" b="1">
                <a:solidFill>
                  <a:srgbClr val="92400E"/>
                </a:solidFill>
                <a:latin typeface="Segoe UI"/>
              </a:rPr>
              <a:t>Pending: AWS EKS</a:t>
            </a:r>
          </a:p>
          <a:p>
            <a:pPr algn="l"/>
            <a:r>
              <a:rPr sz="1000" b="0">
                <a:solidFill>
                  <a:srgbClr val="92400E"/>
                </a:solidFill>
                <a:latin typeface="Segoe UI"/>
              </a:rPr>
              <a:t>terraform plan / apply needs AWS credentials; then the same Helm chart deploys with storageClass gp2.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16 • CONCLUSION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1556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C1F2E"/>
                </a:solidFill>
                <a:latin typeface="Segoe UI"/>
              </a:rPr>
              <a:t>From commit to observed workload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DevTrack Todo  •  Jinesh Gandhi  •  DevOps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086"/>
                </a:solidFill>
                <a:latin typeface="Segoe UI"/>
              </a:rPr>
              <a:t>17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64792"/>
            <a:ext cx="54864" cy="12710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1546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Todo app with React UI, FastAPI REST API, PostgreSQL and Alembic migrations.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60020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764792"/>
            <a:ext cx="54864" cy="1271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37360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Automated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103120"/>
            <a:ext cx="31546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Tests, lint, image builds, Trivy scanning, GHCR publishing and GitOps rollout via ArgoCD.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60020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764792"/>
            <a:ext cx="54864" cy="127101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19" y="1737360"/>
            <a:ext cx="31546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C1F2E"/>
                </a:solidFill>
                <a:latin typeface="Segoe UI"/>
              </a:rPr>
              <a:t>Operated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103120"/>
            <a:ext cx="31546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B7086"/>
                </a:solidFill>
                <a:latin typeface="Segoe UI"/>
              </a:rPr>
              <a:t>ArgoCD-managed Helm release with Ingress, HPA, probes, Prometheus and Grafana; EKS defined in Terraform.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2044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C1F2E"/>
                </a:solidFill>
                <a:latin typeface="Segoe UI"/>
              </a:rPr>
              <a:t>Next steps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23360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Karpenter / Cluster Autoscaler for nodes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23360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Amazon RDS instead of in-cluster PostgreSQL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590288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User accounts and per-user todo lists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590288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TLS with cert-manager + a custom domain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7216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Alerting rules (error rate, latency) to Slack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157216"/>
            <a:ext cx="54406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1C1F2E"/>
                </a:solidFill>
                <a:latin typeface="Segoe UI"/>
              </a:rPr>
              <a:t>Remote Terraform state in S3 with locking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4F46E5"/>
                </a:solidFill>
                <a:latin typeface="Segoe UI"/>
              </a:rPr>
              <a:t>Lesson: a feature is not finished until it is tested, scanned, deployed and observable.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546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400" b="0">
                <a:solidFill>
                  <a:srgbClr val="818CF8"/>
                </a:solidFill>
                <a:latin typeface="Segoe UI"/>
              </a:rPr>
              <a:t>Questions &amp;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Jinesh Gandhi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A4A8C3"/>
                </a:solidFill>
                <a:latin typeface="Consolas"/>
              </a:rPr>
              <a:t>github.com/jineshgandhi79/Devops-capstone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4F46E5"/>
                </a:solidFill>
                <a:latin typeface="Segoe UI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5740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0EA5E9"/>
                </a:solidFill>
                <a:latin typeface="Segoe UI"/>
              </a:rPr>
              <a:t>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59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Docker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Trivy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8B5CF6"/>
                </a:solidFill>
                <a:latin typeface="Segoe UI"/>
              </a:rPr>
              <a:t>Terraform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0EA5E9"/>
                </a:solidFill>
                <a:latin typeface="Segoe UI"/>
              </a:rPr>
              <a:t>Helm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55778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Grafana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