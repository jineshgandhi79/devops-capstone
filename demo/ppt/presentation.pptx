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30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777240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Segoe UI"/>
              </a:rPr>
              <a:t>DevTrack 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14300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A4A8C3"/>
                </a:solidFill>
                <a:latin typeface="Segoe UI"/>
              </a:rPr>
              <a:t>Final DevOps Capstone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6766560" cy="2194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5000" b="1">
                <a:solidFill>
                  <a:srgbClr val="FFFFFF"/>
                </a:solidFill>
                <a:latin typeface="Segoe UI"/>
              </a:rPr>
              <a:t>From commit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5000" b="1">
                <a:solidFill>
                  <a:srgbClr val="FFFFFF"/>
                </a:solidFill>
                <a:latin typeface="Segoe UI"/>
              </a:rPr>
              <a:t>to running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5000" b="1">
                <a:solidFill>
                  <a:srgbClr val="818CF8"/>
                </a:solidFill>
                <a:latin typeface="Segoe UI"/>
              </a:rPr>
              <a:t>to observed.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F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10B981"/>
                </a:solidFill>
                <a:latin typeface="Segoe UI"/>
              </a:rPr>
              <a:t>TEST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38528" y="457200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F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0EA5E9"/>
                </a:solidFill>
                <a:latin typeface="Segoe UI"/>
              </a:rPr>
              <a:t>BUILD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45536" y="457200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F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59E0B"/>
                </a:solidFill>
                <a:latin typeface="Segoe UI"/>
              </a:rPr>
              <a:t>SCAN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457200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F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818CF8"/>
                </a:solidFill>
                <a:latin typeface="Segoe UI"/>
              </a:rPr>
              <a:t>DEPLOY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59552" y="457200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F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EC4899"/>
                </a:solidFill>
                <a:latin typeface="Segoe UI"/>
              </a:rPr>
              <a:t>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349240"/>
            <a:ext cx="6400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Jinesh Gandhi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A4A8C3"/>
                </a:solidFill>
                <a:latin typeface="Consolas"/>
              </a:rPr>
              <a:t>github.com/jineshgandhi79/Devops-capstone</a:t>
            </a:r>
          </a:p>
        </p:txBody>
      </p:sp>
      <p:pic>
        <p:nvPicPr>
          <p:cNvPr id="12" name="Picture 11" descr="M1-applicatio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551416"/>
            <a:ext cx="4434840" cy="3846607"/>
          </a:xfrm>
          <a:prstGeom prst="rect">
            <a:avLst/>
          </a:prstGeom>
          <a:ln w="12700">
            <a:solidFill>
              <a:srgbClr val="E4E6EF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01 • PROBLEM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1556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C1F2E"/>
                </a:solidFill>
                <a:latin typeface="Segoe UI"/>
              </a:rPr>
              <a:t>Organise the work. Ship it reliably.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155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6B7086"/>
                </a:solidFill>
                <a:latin typeface="Segoe UI"/>
              </a:rPr>
              <a:t>DevTrack Todo pairs a useful everyday product with a production-style delivery path.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DevTrack Todo  •  Jinesh Gandhi  •  DevOps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2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93392"/>
            <a:ext cx="54864" cy="16824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C1F2E"/>
                </a:solidFill>
                <a:latin typeface="Segoe UI"/>
              </a:rPr>
              <a:t>The product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331720"/>
            <a:ext cx="5029200" cy="1417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6B7086"/>
                </a:solidFill>
                <a:latin typeface="Segoe UI"/>
              </a:rPr>
              <a:t>Tasks live in heads, chats and sticky notes. People need one place to capture todos, set priorities and due dates, group them by category and see what is overdue.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993392"/>
            <a:ext cx="54864" cy="1682496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965960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C1F2E"/>
                </a:solidFill>
                <a:latin typeface="Segoe UI"/>
              </a:rPr>
              <a:t>The delivery problem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331720"/>
            <a:ext cx="5029200" cy="1417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6B7086"/>
                </a:solidFill>
                <a:latin typeface="Segoe UI"/>
              </a:rPr>
              <a:t>Manual releases are hard to reproduce. Untested code, unscanned images and missing metrics turn every deployment into a risk.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60520"/>
            <a:ext cx="10972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C1F2E"/>
                </a:solidFill>
                <a:latin typeface="Segoe UI"/>
              </a:rPr>
              <a:t>Project goals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572000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736592"/>
            <a:ext cx="54864" cy="131673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709160"/>
            <a:ext cx="2286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C1F2E"/>
                </a:solidFill>
                <a:latin typeface="Segoe UI"/>
              </a:rPr>
              <a:t>Working product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074920"/>
            <a:ext cx="2286000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B7086"/>
                </a:solidFill>
                <a:latin typeface="Segoe UI"/>
              </a:rPr>
              <a:t>Full CRUD todo app with filters, stats and a responsive UI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64992" y="4572000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64992" y="4736592"/>
            <a:ext cx="54864" cy="13167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93592" y="4709160"/>
            <a:ext cx="2286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C1F2E"/>
                </a:solidFill>
                <a:latin typeface="Segoe UI"/>
              </a:rPr>
              <a:t>Quality gates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93592" y="5074920"/>
            <a:ext cx="2286000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B7086"/>
                </a:solidFill>
                <a:latin typeface="Segoe UI"/>
              </a:rPr>
              <a:t>Automated tests and image scanning before anything ships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4572000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4736592"/>
            <a:ext cx="54864" cy="1316736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9944" y="4709160"/>
            <a:ext cx="2286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C1F2E"/>
                </a:solidFill>
                <a:latin typeface="Segoe UI"/>
              </a:rPr>
              <a:t>Reproducible infra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9944" y="5074920"/>
            <a:ext cx="2286000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B7086"/>
                </a:solidFill>
                <a:latin typeface="Segoe UI"/>
              </a:rPr>
              <a:t>AWS network and EKS cluster described as code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97696" y="4572000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97696" y="4736592"/>
            <a:ext cx="54864" cy="131673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26296" y="4709160"/>
            <a:ext cx="2286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C1F2E"/>
                </a:solidFill>
                <a:latin typeface="Segoe UI"/>
              </a:rPr>
              <a:t>Observable runtime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26296" y="5074920"/>
            <a:ext cx="2286000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B7086"/>
                </a:solidFill>
                <a:latin typeface="Segoe UI"/>
              </a:rPr>
              <a:t>Health probes, metrics and dashboards in production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02 •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1556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C1F2E"/>
                </a:solidFill>
                <a:latin typeface="Segoe UI"/>
              </a:rPr>
              <a:t>A focused todo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155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6B7086"/>
                </a:solidFill>
                <a:latin typeface="Segoe UI"/>
              </a:rPr>
              <a:t>Screenshots captured from the running Docker Compose stack.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DevTrack Todo  •  Jinesh Gandhi  •  DevOps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3 / 15</a:t>
            </a:r>
          </a:p>
        </p:txBody>
      </p:sp>
      <p:pic>
        <p:nvPicPr>
          <p:cNvPr id="8" name="Picture 7" descr="M1-application-dashboard.png"/>
          <p:cNvPicPr>
            <a:picLocks noChangeAspect="1"/>
          </p:cNvPicPr>
          <p:nvPr/>
        </p:nvPicPr>
        <p:blipFill>
          <a:blip r:embed="rId2"/>
          <a:srcRect b="21822"/>
          <a:stretch>
            <a:fillRect/>
          </a:stretch>
        </p:blipFill>
        <p:spPr>
          <a:xfrm>
            <a:off x="548640" y="1737360"/>
            <a:ext cx="6675120" cy="4526280"/>
          </a:xfrm>
          <a:prstGeom prst="rect">
            <a:avLst/>
          </a:prstGeom>
          <a:ln w="12700">
            <a:solidFill>
              <a:srgbClr val="E4E6EF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7498079" y="1810512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4F46E5"/>
                </a:solidFill>
                <a:latin typeface="Segoe U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1737360"/>
            <a:ext cx="384048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1C1F2E"/>
                </a:solidFill>
                <a:latin typeface="Segoe UI"/>
              </a:rPr>
              <a:t>Smart views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6B7086"/>
                </a:solidFill>
                <a:latin typeface="Segoe UI"/>
              </a:rPr>
              <a:t>All · Active · Due today · Overdue · Completed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256946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4F46E5"/>
                </a:solidFill>
                <a:latin typeface="Segoe U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496312"/>
            <a:ext cx="384048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1C1F2E"/>
                </a:solidFill>
                <a:latin typeface="Segoe UI"/>
              </a:rPr>
              <a:t>Organise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6B7086"/>
                </a:solidFill>
                <a:latin typeface="Segoe UI"/>
              </a:rPr>
              <a:t>Priorities, categories and due dates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3328415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4F46E5"/>
                </a:solidFill>
                <a:latin typeface="Segoe U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255263"/>
            <a:ext cx="384048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1C1F2E"/>
                </a:solidFill>
                <a:latin typeface="Segoe UI"/>
              </a:rPr>
              <a:t>Find fast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6B7086"/>
                </a:solidFill>
                <a:latin typeface="Segoe UI"/>
              </a:rPr>
              <a:t>Search, category filter and 4 sort orders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79" y="408736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4F46E5"/>
                </a:solidFill>
                <a:latin typeface="Segoe U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014215"/>
            <a:ext cx="384048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1C1F2E"/>
                </a:solidFill>
                <a:latin typeface="Segoe UI"/>
              </a:rPr>
              <a:t>Track progress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6B7086"/>
                </a:solidFill>
                <a:latin typeface="Segoe UI"/>
              </a:rPr>
              <a:t>Live stat cards and completion bar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79" y="484632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4F46E5"/>
                </a:solidFill>
                <a:latin typeface="Segoe U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4773168"/>
            <a:ext cx="384048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1C1F2E"/>
                </a:solidFill>
                <a:latin typeface="Segoe UI"/>
              </a:rPr>
              <a:t>Edit in place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6B7086"/>
                </a:solidFill>
                <a:latin typeface="Segoe UI"/>
              </a:rPr>
              <a:t>Modal editor, one-click complete, safe delete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5605271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4F46E5"/>
                </a:solidFill>
                <a:latin typeface="Segoe U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5532119"/>
            <a:ext cx="384048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1C1F2E"/>
                </a:solidFill>
                <a:latin typeface="Segoe UI"/>
              </a:rPr>
              <a:t>Responsive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6B7086"/>
                </a:solidFill>
                <a:latin typeface="Segoe UI"/>
              </a:rPr>
              <a:t>Desktop sidebar → mobile scrolling tabs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03 •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1556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C1F2E"/>
                </a:solidFill>
                <a:latin typeface="Segoe UI"/>
              </a:rPr>
              <a:t>Four paths through one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155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6B7086"/>
                </a:solidFill>
                <a:latin typeface="Segoe UI"/>
              </a:rPr>
              <a:t>Request path, delivery path, GitOps path and infrastructure / observability path.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DevTrack Todo  •  Jinesh Gandhi  •  DevOps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4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38528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REQUEST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182880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Browser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986783" y="2112264"/>
            <a:ext cx="283465" cy="0"/>
          </a:xfrm>
          <a:prstGeom prst="line">
            <a:avLst/>
          </a:prstGeom>
          <a:ln w="22225">
            <a:solidFill>
              <a:srgbClr val="4F46E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288536" y="182880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Ingress NGINX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97879" y="2112264"/>
            <a:ext cx="283465" cy="0"/>
          </a:xfrm>
          <a:prstGeom prst="line">
            <a:avLst/>
          </a:prstGeom>
          <a:ln w="22225">
            <a:solidFill>
              <a:srgbClr val="4F46E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199631" y="182880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React SPA (Nginx)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808975" y="2112264"/>
            <a:ext cx="283465" cy="0"/>
          </a:xfrm>
          <a:prstGeom prst="line">
            <a:avLst/>
          </a:prstGeom>
          <a:ln w="22225">
            <a:solidFill>
              <a:srgbClr val="4F46E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110727" y="182880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FastAPI /api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720072" y="2112264"/>
            <a:ext cx="283464" cy="0"/>
          </a:xfrm>
          <a:prstGeom prst="line">
            <a:avLst/>
          </a:prstGeom>
          <a:ln w="22225">
            <a:solidFill>
              <a:srgbClr val="4F46E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21824" y="182880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PostgreSQL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990088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Segoe UI"/>
              </a:rPr>
              <a:t>DELIVERY PATH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77440" y="288036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git push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986783" y="3163824"/>
            <a:ext cx="283465" cy="0"/>
          </a:xfrm>
          <a:prstGeom prst="line">
            <a:avLst/>
          </a:prstGeom>
          <a:ln w="22225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88536" y="288036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pytest + build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897879" y="3163824"/>
            <a:ext cx="283465" cy="0"/>
          </a:xfrm>
          <a:prstGeom prst="line">
            <a:avLst/>
          </a:prstGeom>
          <a:ln w="22225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199631" y="288036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Docker build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808975" y="3163824"/>
            <a:ext cx="283465" cy="0"/>
          </a:xfrm>
          <a:prstGeom prst="line">
            <a:avLst/>
          </a:prstGeom>
          <a:ln w="22225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10727" y="288036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Trivy scan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20072" y="3163824"/>
            <a:ext cx="283464" cy="0"/>
          </a:xfrm>
          <a:prstGeom prst="line">
            <a:avLst/>
          </a:prstGeom>
          <a:ln w="22225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21824" y="288036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GHCR :sha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041648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Segoe UI"/>
              </a:rPr>
              <a:t>GITOPS PATH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377440" y="393192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CI pins SHA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986783" y="4215383"/>
            <a:ext cx="283465" cy="0"/>
          </a:xfrm>
          <a:prstGeom prst="line">
            <a:avLst/>
          </a:prstGeom>
          <a:ln w="22225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288536" y="393192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values.yaml commit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897879" y="4215383"/>
            <a:ext cx="283465" cy="0"/>
          </a:xfrm>
          <a:prstGeom prst="line">
            <a:avLst/>
          </a:prstGeom>
          <a:ln w="22225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199631" y="393192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ArgoCD sync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808975" y="4215383"/>
            <a:ext cx="283465" cy="0"/>
          </a:xfrm>
          <a:prstGeom prst="line">
            <a:avLst/>
          </a:prstGeom>
          <a:ln w="22225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110727" y="393192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Helm release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720072" y="4215383"/>
            <a:ext cx="283464" cy="0"/>
          </a:xfrm>
          <a:prstGeom prst="line">
            <a:avLst/>
          </a:prstGeom>
          <a:ln w="22225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10021824" y="393192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Rolling update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093208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0EA5E9"/>
                </a:solidFill>
                <a:latin typeface="Segoe UI"/>
              </a:rPr>
              <a:t>PLATFORM PATH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77440" y="498348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Terraform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986783" y="5266944"/>
            <a:ext cx="283465" cy="0"/>
          </a:xfrm>
          <a:prstGeom prst="line">
            <a:avLst/>
          </a:prstGeom>
          <a:ln w="22225">
            <a:solidFill>
              <a:srgbClr val="0EA5E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4288536" y="498348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VPC + subnets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897879" y="5266944"/>
            <a:ext cx="283465" cy="0"/>
          </a:xfrm>
          <a:prstGeom prst="line">
            <a:avLst/>
          </a:prstGeom>
          <a:ln w="22225">
            <a:solidFill>
              <a:srgbClr val="0EA5E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6199631" y="498348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EKS + nodes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808975" y="5266944"/>
            <a:ext cx="283465" cy="0"/>
          </a:xfrm>
          <a:prstGeom prst="line">
            <a:avLst/>
          </a:prstGeom>
          <a:ln w="22225">
            <a:solidFill>
              <a:srgbClr val="0EA5E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8110727" y="498348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Prometheus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720072" y="5266944"/>
            <a:ext cx="283464" cy="0"/>
          </a:xfrm>
          <a:prstGeom prst="line">
            <a:avLst/>
          </a:prstGeom>
          <a:ln w="22225">
            <a:solidFill>
              <a:srgbClr val="0EA5E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10021824" y="498348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Grafana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6B7086"/>
                </a:solidFill>
                <a:latin typeface="Segoe UI"/>
              </a:rPr>
              <a:t>Rule: the cluster only changes through Git, so every running image traces back to a commit SHA.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04 • 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1556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C1F2E"/>
                </a:solidFill>
                <a:latin typeface="Segoe UI"/>
              </a:rPr>
              <a:t>Every layer has one clear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DevTrack Todo  •  Jinesh Gandhi  •  DevOps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5 /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356616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3566160" cy="7315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28800"/>
            <a:ext cx="31089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C1F2E"/>
                </a:solidFill>
                <a:latin typeface="Segoe UI"/>
              </a:rPr>
              <a:t>Frontend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31720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React 19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77440" y="2331720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Vite 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788920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Oxlint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77440" y="2788920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Nginx unprivileged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600200"/>
            <a:ext cx="356616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79" y="1600200"/>
            <a:ext cx="3566160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79" y="1828800"/>
            <a:ext cx="31089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C1F2E"/>
                </a:solidFill>
                <a:latin typeface="Segoe UI"/>
              </a:rPr>
              <a:t>Backend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79" y="2331720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FastAPI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79" y="2331720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Pydantic v2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79" y="2788920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SQLAlchemy 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79" y="2788920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Alembic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1600200"/>
            <a:ext cx="356616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19" y="1600200"/>
            <a:ext cx="356616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19" y="1828800"/>
            <a:ext cx="31089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C1F2E"/>
                </a:solidFill>
                <a:latin typeface="Segoe UI"/>
              </a:rPr>
              <a:t>Data &amp; tests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75319" y="2331720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PostgreSQL 16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19" y="2331720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Pytest (28 tests)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75319" y="2788920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SQLite test DB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977639"/>
            <a:ext cx="356616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977639"/>
            <a:ext cx="3566160" cy="73152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206240"/>
            <a:ext cx="31089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C1F2E"/>
                </a:solidFill>
                <a:latin typeface="Segoe UI"/>
              </a:rPr>
              <a:t>Delivery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709159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Docker / Compose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77440" y="4709159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GitHub Actions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166359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Trivy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77440" y="5166359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GHCR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79" y="3977639"/>
            <a:ext cx="356616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97679" y="3977639"/>
            <a:ext cx="3566160" cy="73152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26279" y="4206240"/>
            <a:ext cx="31089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C1F2E"/>
                </a:solidFill>
                <a:latin typeface="Segoe UI"/>
              </a:rPr>
              <a:t>Platform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26279" y="4709159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Terraform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79" y="4709159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AWS VPC + EKS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26279" y="5166359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Helm 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26479" y="5166359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ArgoCD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46719" y="3977639"/>
            <a:ext cx="356616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46719" y="3977639"/>
            <a:ext cx="3566160" cy="73152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5319" y="4206240"/>
            <a:ext cx="31089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C1F2E"/>
                </a:solidFill>
                <a:latin typeface="Segoe UI"/>
              </a:rPr>
              <a:t>Observability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75319" y="4709159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Prometheus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875519" y="4709159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Grafana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75319" y="5166359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Health / ready probes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05 • BACKEND, DATA &amp;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1556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C1F2E"/>
                </a:solidFill>
                <a:latin typeface="Segoe UI"/>
              </a:rPr>
              <a:t>A validated REST API with isolated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155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6B7086"/>
                </a:solidFill>
                <a:latin typeface="Segoe UI"/>
              </a:rPr>
              <a:t>28 pytest tests pass locally; CI also applies the migrations to a real PostgreSQL service.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DevTrack Todo  •  Jinesh Gandhi  •  DevOps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6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557784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920239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874519"/>
            <a:ext cx="26517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1C1F2E"/>
                </a:solidFill>
                <a:latin typeface="Consolas"/>
              </a:rPr>
              <a:t>/api/todos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892807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list · filter · search · sort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395727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350008"/>
            <a:ext cx="26517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1C1F2E"/>
                </a:solidFill>
                <a:latin typeface="Consolas"/>
              </a:rPr>
              <a:t>/api/todos/stats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2368296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dashboard counters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871215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825496"/>
            <a:ext cx="26517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1C1F2E"/>
                </a:solidFill>
                <a:latin typeface="Consolas"/>
              </a:rPr>
              <a:t>/api/todos/{id}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43784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read 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346703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300984"/>
            <a:ext cx="26517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1C1F2E"/>
                </a:solidFill>
                <a:latin typeface="Consolas"/>
              </a:rPr>
              <a:t>/api/todos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3319272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create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822191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3776472"/>
            <a:ext cx="26517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1C1F2E"/>
                </a:solidFill>
                <a:latin typeface="Consolas"/>
              </a:rPr>
              <a:t>/api/todos/{id}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3794759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partial update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29768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PATCH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251960"/>
            <a:ext cx="26517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1C1F2E"/>
                </a:solidFill>
                <a:latin typeface="Consolas"/>
              </a:rPr>
              <a:t>/api/todos/{id}/toggle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4270248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complete / reopen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4773168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DELETE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4727448"/>
            <a:ext cx="26517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1C1F2E"/>
                </a:solidFill>
                <a:latin typeface="Consolas"/>
              </a:rPr>
              <a:t>/api/todos/{id}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745736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delete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248655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DELETE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5202936"/>
            <a:ext cx="26517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1C1F2E"/>
                </a:solidFill>
                <a:latin typeface="Consolas"/>
              </a:rPr>
              <a:t>/api/todos/completed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06240" y="5221223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clear completed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5724144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GET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45920" y="5678424"/>
            <a:ext cx="26517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1C1F2E"/>
                </a:solidFill>
                <a:latin typeface="Consolas"/>
              </a:rPr>
              <a:t>/health · /ready · /metrics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5696712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operations</a:t>
            </a:r>
          </a:p>
        </p:txBody>
      </p:sp>
      <p:pic>
        <p:nvPicPr>
          <p:cNvPr id="36" name="Picture 35" descr="M2-pytest-pa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14906"/>
            <a:ext cx="5257800" cy="4171188"/>
          </a:xfrm>
          <a:prstGeom prst="rect">
            <a:avLst/>
          </a:prstGeom>
          <a:ln w="12700">
            <a:solidFill>
              <a:srgbClr val="E4E6EF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06 • CONTAINERS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1556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C1F2E"/>
                </a:solidFill>
                <a:latin typeface="Segoe UI"/>
              </a:rPr>
              <a:t>A reproducible local stack in dependency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155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6B7086"/>
                </a:solidFill>
                <a:latin typeface="Segoe UI"/>
              </a:rPr>
              <a:t>docker compose up --build starts PostgreSQL, then the API (after migrations), then the frontend.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DevTrack Todo  •  Jinesh Gandhi  •  DevOps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7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35204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01952"/>
            <a:ext cx="54864" cy="1179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3154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C1F2E"/>
                </a:solidFill>
                <a:latin typeface="Segoe UI"/>
              </a:rPr>
              <a:t>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40280"/>
            <a:ext cx="3154680" cy="9143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B7086"/>
                </a:solidFill>
                <a:latin typeface="Segoe UI"/>
              </a:rPr>
              <a:t>postgres:16-alpine
Named data volume
pg_isready health check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087368" y="2487168"/>
            <a:ext cx="192024" cy="0"/>
          </a:xfrm>
          <a:prstGeom prst="line">
            <a:avLst/>
          </a:prstGeom>
          <a:ln w="22225">
            <a:solidFill>
              <a:srgbClr val="6B708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297679" y="1737360"/>
            <a:ext cx="35204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79" y="1901952"/>
            <a:ext cx="54864" cy="1179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79" y="1874519"/>
            <a:ext cx="3154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C1F2E"/>
                </a:solidFill>
                <a:latin typeface="Segoe UI"/>
              </a:rPr>
              <a:t>Backend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2240280"/>
            <a:ext cx="3154680" cy="9143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B7086"/>
                </a:solidFill>
                <a:latin typeface="Segoe UI"/>
              </a:rPr>
              <a:t>python:3.12-slim, non-root UID 1000
alembic upgrade head → uvicorn
/health check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36408" y="2487168"/>
            <a:ext cx="192023" cy="0"/>
          </a:xfrm>
          <a:prstGeom prst="line">
            <a:avLst/>
          </a:prstGeom>
          <a:ln w="22225">
            <a:solidFill>
              <a:srgbClr val="6B708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046719" y="1737360"/>
            <a:ext cx="35204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19" y="1901952"/>
            <a:ext cx="54864" cy="117957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19" y="1874519"/>
            <a:ext cx="3154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C1F2E"/>
                </a:solidFill>
                <a:latin typeface="Segoe UI"/>
              </a:rPr>
              <a:t>Frontend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2240280"/>
            <a:ext cx="3154680" cy="9143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B7086"/>
                </a:solidFill>
                <a:latin typeface="Segoe UI"/>
              </a:rPr>
              <a:t>Multi-stage: node:20 → nginx
Unprivileged, port 8080
Proxies /api to backend</a:t>
            </a:r>
          </a:p>
        </p:txBody>
      </p:sp>
      <p:pic>
        <p:nvPicPr>
          <p:cNvPr id="22" name="Picture 21" descr="M4-docker-compose-running.png"/>
          <p:cNvPicPr>
            <a:picLocks noChangeAspect="1"/>
          </p:cNvPicPr>
          <p:nvPr/>
        </p:nvPicPr>
        <p:blipFill>
          <a:blip r:embed="rId2"/>
          <a:srcRect b="8910"/>
          <a:stretch>
            <a:fillRect/>
          </a:stretch>
        </p:blipFill>
        <p:spPr>
          <a:xfrm>
            <a:off x="548640" y="3474720"/>
            <a:ext cx="6400800" cy="2788920"/>
          </a:xfrm>
          <a:prstGeom prst="rect">
            <a:avLst/>
          </a:prstGeom>
          <a:ln w="12700">
            <a:solidFill>
              <a:srgbClr val="E4E6EF"/>
            </a:solidFill>
          </a:ln>
        </p:spPr>
      </p:pic>
      <p:pic>
        <p:nvPicPr>
          <p:cNvPr id="23" name="Picture 22" descr="M4-postgres-todos-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3758374"/>
            <a:ext cx="4480560" cy="2221611"/>
          </a:xfrm>
          <a:prstGeom prst="rect">
            <a:avLst/>
          </a:prstGeom>
          <a:ln w="12700">
            <a:solidFill>
              <a:srgbClr val="E4E6EF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07 • CI/CD &amp; DEVSECOPS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1556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C1F2E"/>
                </a:solidFill>
                <a:latin typeface="Segoe UI"/>
              </a:rPr>
              <a:t>Quality gates before a SHA-tagged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155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6B7086"/>
                </a:solidFill>
                <a:latin typeface="Segoe UI"/>
              </a:rPr>
              <a:t>.github/workflows/ci.yml — nothing is pushed unless tests, build and the security scan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DevTrack Todo  •  Jinesh Gandhi  •  DevOps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8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1700784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810512"/>
            <a:ext cx="1371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057400"/>
            <a:ext cx="14630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C1F2E"/>
                </a:solidFill>
                <a:latin typeface="Segoe UI"/>
              </a:rPr>
              <a:t>Push / PR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423160"/>
            <a:ext cx="14630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main branch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58568" y="2468880"/>
            <a:ext cx="164592" cy="0"/>
          </a:xfrm>
          <a:prstGeom prst="line">
            <a:avLst/>
          </a:prstGeom>
          <a:ln w="22225">
            <a:solidFill>
              <a:srgbClr val="4F46E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432304" y="1737360"/>
            <a:ext cx="1700784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96896" y="1810512"/>
            <a:ext cx="1371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96896" y="2057400"/>
            <a:ext cx="14630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C1F2E"/>
                </a:solidFill>
                <a:latin typeface="Segoe UI"/>
              </a:rPr>
              <a:t>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96896" y="2423160"/>
            <a:ext cx="14630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pytest + alembic
on PostgreSQL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142232" y="2468880"/>
            <a:ext cx="164592" cy="0"/>
          </a:xfrm>
          <a:prstGeom prst="line">
            <a:avLst/>
          </a:prstGeom>
          <a:ln w="22225">
            <a:solidFill>
              <a:srgbClr val="4F46E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315968" y="1737360"/>
            <a:ext cx="1700784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1810512"/>
            <a:ext cx="1371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59" y="2057400"/>
            <a:ext cx="14630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C1F2E"/>
                </a:solidFill>
                <a:latin typeface="Segoe U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59" y="2423160"/>
            <a:ext cx="14630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lint + vite build
docker images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25896" y="2468880"/>
            <a:ext cx="164592" cy="0"/>
          </a:xfrm>
          <a:prstGeom prst="line">
            <a:avLst/>
          </a:prstGeom>
          <a:ln w="22225">
            <a:solidFill>
              <a:srgbClr val="4F46E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199631" y="1737360"/>
            <a:ext cx="1700784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3" y="1810512"/>
            <a:ext cx="1371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3" y="2057400"/>
            <a:ext cx="14630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C1F2E"/>
                </a:solidFill>
                <a:latin typeface="Segoe UI"/>
              </a:rPr>
              <a:t>Scan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3" y="2423160"/>
            <a:ext cx="14630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Trivy HIGH/CRITICAL
vuln + secrets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909559" y="2468880"/>
            <a:ext cx="164592" cy="0"/>
          </a:xfrm>
          <a:prstGeom prst="line">
            <a:avLst/>
          </a:prstGeom>
          <a:ln w="22225">
            <a:solidFill>
              <a:srgbClr val="4F46E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083296" y="1737360"/>
            <a:ext cx="1700784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47888" y="1810512"/>
            <a:ext cx="1371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7888" y="2057400"/>
            <a:ext cx="14630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C1F2E"/>
                </a:solidFill>
                <a:latin typeface="Segoe UI"/>
              </a:rPr>
              <a:t>Publish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7888" y="2423160"/>
            <a:ext cx="14630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GHCR
:sha and :latest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793224" y="2468880"/>
            <a:ext cx="164592" cy="0"/>
          </a:xfrm>
          <a:prstGeom prst="line">
            <a:avLst/>
          </a:prstGeom>
          <a:ln w="22225">
            <a:solidFill>
              <a:srgbClr val="4F46E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966960" y="1737360"/>
            <a:ext cx="1700784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31552" y="1810512"/>
            <a:ext cx="1371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31552" y="2057400"/>
            <a:ext cx="14630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C1F2E"/>
                </a:solidFill>
                <a:latin typeface="Segoe UI"/>
              </a:rPr>
              <a:t>Deploy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31552" y="2423160"/>
            <a:ext cx="14630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pin SHA in Helm
ArgoCD sync</a:t>
            </a:r>
          </a:p>
        </p:txBody>
      </p:sp>
      <p:pic>
        <p:nvPicPr>
          <p:cNvPr id="37" name="Picture 36" descr="M6-trivy-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719779"/>
            <a:ext cx="6035040" cy="2253081"/>
          </a:xfrm>
          <a:prstGeom prst="rect">
            <a:avLst/>
          </a:prstGeom>
          <a:ln w="12700">
            <a:solidFill>
              <a:srgbClr val="E4E6EF"/>
            </a:solidFill>
          </a:ln>
        </p:spPr>
      </p:pic>
      <p:sp>
        <p:nvSpPr>
          <p:cNvPr id="38" name="Rounded Rectangle 37"/>
          <p:cNvSpPr/>
          <p:nvPr/>
        </p:nvSpPr>
        <p:spPr>
          <a:xfrm>
            <a:off x="6812280" y="3429000"/>
            <a:ext cx="484632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B8D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4F46E5"/>
                </a:solidFill>
                <a:latin typeface="Segoe UI"/>
              </a:rPr>
              <a:t>📷  Add your screenshot</a:t>
            </a:r>
          </a:p>
          <a:p>
            <a:pPr algn="ctr"/>
            <a:r>
              <a:rPr sz="1200" b="0">
                <a:solidFill>
                  <a:srgbClr val="1C1F2E"/>
                </a:solidFill>
                <a:latin typeface="Segoe UI"/>
              </a:rPr>
              <a:t>Green GitHub Actions run + GHCR packages</a:t>
            </a:r>
          </a:p>
          <a:p>
            <a:pPr algn="ctr"/>
            <a:r>
              <a:rPr sz="1100" b="0">
                <a:solidFill>
                  <a:srgbClr val="6B7086"/>
                </a:solidFill>
                <a:latin typeface="Consolas"/>
              </a:rPr>
              <a:t>github.com/jineshgandhi79/Devops-capstone/actions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08 • INFRASTRUCTURE AS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1556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C1F2E"/>
                </a:solidFill>
                <a:latin typeface="Segoe UI"/>
              </a:rPr>
              <a:t>Terraform builds the AWS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155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6B7086"/>
                </a:solidFill>
                <a:latin typeface="Segoe UI"/>
              </a:rPr>
              <a:t>Region ap-southeast-2 (Sydney) • terraform init → plan → apply → destroy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DevTrack Todo  •  Jinesh Gandhi  •  DevOps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9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676656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28800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EA5E9"/>
                </a:solidFill>
                <a:latin typeface="Segoe UI"/>
              </a:rPr>
              <a:t>VPC  •  10.0.0.0/16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86000"/>
            <a:ext cx="3063240" cy="3749039"/>
          </a:xfrm>
          <a:prstGeom prst="roundRect">
            <a:avLst>
              <a:gd name="adj" fmla="val 8000"/>
            </a:avLst>
          </a:prstGeom>
          <a:solidFill>
            <a:srgbClr val="F4F5FB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377440"/>
            <a:ext cx="18288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6B7086"/>
                </a:solidFill>
                <a:latin typeface="Segoe UI"/>
              </a:rPr>
              <a:t>AZ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2743200"/>
            <a:ext cx="2697480" cy="1051560"/>
          </a:xfrm>
          <a:prstGeom prst="roundRect">
            <a:avLst>
              <a:gd name="adj" fmla="val 8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1C1F2E"/>
                </a:solidFill>
                <a:latin typeface="Segoe UI"/>
              </a:rPr>
              <a:t>Public subnet</a:t>
            </a:r>
          </a:p>
          <a:p>
            <a:pPr algn="ctr"/>
            <a:r>
              <a:rPr sz="1100" b="0">
                <a:solidFill>
                  <a:srgbClr val="6B7086"/>
                </a:solidFill>
                <a:latin typeface="Consolas"/>
              </a:rPr>
              <a:t>10.0.1.0/24</a:t>
            </a:r>
          </a:p>
          <a:p>
            <a:pPr algn="ctr"/>
            <a:r>
              <a:rPr sz="1000" b="0">
                <a:solidFill>
                  <a:srgbClr val="6B7086"/>
                </a:solidFill>
                <a:latin typeface="Segoe UI"/>
              </a:rPr>
              <a:t>IGW + NAT gateway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3977639"/>
            <a:ext cx="2697480" cy="1874519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1C1F2E"/>
                </a:solidFill>
                <a:latin typeface="Segoe UI"/>
              </a:rPr>
              <a:t>Private subnet</a:t>
            </a:r>
          </a:p>
          <a:p>
            <a:pPr algn="ctr"/>
            <a:r>
              <a:rPr sz="1100" b="0">
                <a:solidFill>
                  <a:srgbClr val="6B7086"/>
                </a:solidFill>
                <a:latin typeface="Consolas"/>
              </a:rPr>
              <a:t>10.0.10.0/24</a:t>
            </a:r>
          </a:p>
          <a:p>
            <a:pPr algn="ctr"/>
            <a:r>
              <a:rPr sz="1000" b="0">
                <a:solidFill>
                  <a:srgbClr val="6B7086"/>
                </a:solidFill>
                <a:latin typeface="Segoe UI"/>
              </a:rPr>
              <a:t>EKS worker nodes</a:t>
            </a:r>
          </a:p>
          <a:p>
            <a:pPr algn="ctr"/>
            <a:r>
              <a:rPr sz="1000" b="0">
                <a:solidFill>
                  <a:srgbClr val="6B7086"/>
                </a:solidFill>
                <a:latin typeface="Segoe UI"/>
              </a:rPr>
              <a:t>t3.medium (AL2023)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69080" y="2286000"/>
            <a:ext cx="3063240" cy="3749039"/>
          </a:xfrm>
          <a:prstGeom prst="roundRect">
            <a:avLst>
              <a:gd name="adj" fmla="val 8000"/>
            </a:avLst>
          </a:prstGeom>
          <a:solidFill>
            <a:srgbClr val="F4F5FB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1960" y="2377440"/>
            <a:ext cx="18288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6B7086"/>
                </a:solidFill>
                <a:latin typeface="Segoe UI"/>
              </a:rPr>
              <a:t>AZ 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2743200"/>
            <a:ext cx="2697480" cy="1051560"/>
          </a:xfrm>
          <a:prstGeom prst="roundRect">
            <a:avLst>
              <a:gd name="adj" fmla="val 8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1C1F2E"/>
                </a:solidFill>
                <a:latin typeface="Segoe UI"/>
              </a:rPr>
              <a:t>Public subnet</a:t>
            </a:r>
          </a:p>
          <a:p>
            <a:pPr algn="ctr"/>
            <a:r>
              <a:rPr sz="1100" b="0">
                <a:solidFill>
                  <a:srgbClr val="6B7086"/>
                </a:solidFill>
                <a:latin typeface="Consolas"/>
              </a:rPr>
              <a:t>10.0.2.0/24</a:t>
            </a:r>
          </a:p>
          <a:p>
            <a:pPr algn="ctr"/>
            <a:r>
              <a:rPr sz="1000" b="0">
                <a:solidFill>
                  <a:srgbClr val="6B7086"/>
                </a:solidFill>
                <a:latin typeface="Segoe UI"/>
              </a:rPr>
              <a:t>IGW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3977639"/>
            <a:ext cx="2697480" cy="1874519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1C1F2E"/>
                </a:solidFill>
                <a:latin typeface="Segoe UI"/>
              </a:rPr>
              <a:t>Private subnet</a:t>
            </a:r>
          </a:p>
          <a:p>
            <a:pPr algn="ctr"/>
            <a:r>
              <a:rPr sz="1100" b="0">
                <a:solidFill>
                  <a:srgbClr val="6B7086"/>
                </a:solidFill>
                <a:latin typeface="Consolas"/>
              </a:rPr>
              <a:t>10.0.11.0/24</a:t>
            </a:r>
          </a:p>
          <a:p>
            <a:pPr algn="ctr"/>
            <a:r>
              <a:rPr sz="1000" b="0">
                <a:solidFill>
                  <a:srgbClr val="6B7086"/>
                </a:solidFill>
                <a:latin typeface="Segoe UI"/>
              </a:rPr>
              <a:t>EKS worker nodes</a:t>
            </a:r>
          </a:p>
          <a:p>
            <a:pPr algn="ctr"/>
            <a:r>
              <a:rPr sz="1000" b="0">
                <a:solidFill>
                  <a:srgbClr val="6B7086"/>
                </a:solidFill>
                <a:latin typeface="Segoe UI"/>
              </a:rPr>
              <a:t>t3.medium (AL2023)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1737360"/>
            <a:ext cx="40690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89520" y="1901952"/>
            <a:ext cx="54864" cy="676656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20" y="1874519"/>
            <a:ext cx="37033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1C1F2E"/>
                </a:solidFill>
                <a:latin typeface="Segoe UI"/>
              </a:rPr>
              <a:t>EKS control plane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2240280"/>
            <a:ext cx="370332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devtrack-eks-cluster with least-privilege IAM roles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2880360"/>
            <a:ext cx="40690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89520" y="3044952"/>
            <a:ext cx="54864" cy="67665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18120" y="3017520"/>
            <a:ext cx="37033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1C1F2E"/>
                </a:solidFill>
                <a:latin typeface="Segoe UI"/>
              </a:rPr>
              <a:t>Managed node 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3383280"/>
            <a:ext cx="370332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Auto-scaling 1–3 t3.medium nodes in private subnets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89520" y="4023360"/>
            <a:ext cx="40690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589520" y="4187952"/>
            <a:ext cx="54864" cy="67665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18120" y="4160520"/>
            <a:ext cx="37033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1C1F2E"/>
                </a:solidFill>
                <a:latin typeface="Segoe UI"/>
              </a:rPr>
              <a:t>EBS CSI add-on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4526280"/>
            <a:ext cx="370332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Dynamic gp2 volumes for the PostgreSQL PVC (IRSA)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0" y="5166360"/>
            <a:ext cx="40690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0" y="5330952"/>
            <a:ext cx="54864" cy="676656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18120" y="5303520"/>
            <a:ext cx="37033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1C1F2E"/>
                </a:solidFill>
                <a:latin typeface="Segoe UI"/>
              </a:rPr>
              <a:t>Cost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8120" y="5669280"/>
            <a:ext cx="370332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terraform destroy after the demo removes NAT and nodes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09 • KUBERNETES, HELM &amp; GITOPS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1556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C1F2E"/>
                </a:solidFill>
                <a:latin typeface="Segoe UI"/>
              </a:rPr>
              <a:t>Declarative delivery with probes and self-healing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155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6B7086"/>
                </a:solidFill>
                <a:latin typeface="Segoe UI"/>
              </a:rPr>
              <a:t>helm/devtrack packages the app; ArgoCD keeps the cluster in sync with Git.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DevTrack Todo  •  Jinesh Gandhi  •  DevOps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10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676656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28800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Segoe UI"/>
              </a:rPr>
              <a:t>EKS  •  namespace: devtrack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7440" y="2331720"/>
            <a:ext cx="3108960" cy="54864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4F46E5"/>
                </a:solidFill>
                <a:latin typeface="Segoe UI"/>
              </a:rPr>
              <a:t>Ingress NGINX  ( /  ·  /api  ·  /docs 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383280"/>
            <a:ext cx="1828800" cy="1691640"/>
          </a:xfrm>
          <a:prstGeom prst="roundRect">
            <a:avLst>
              <a:gd name="adj" fmla="val 8000"/>
            </a:avLst>
          </a:prstGeom>
          <a:solidFill>
            <a:srgbClr val="F4F5FB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C1F2E"/>
                </a:solidFill>
                <a:latin typeface="Segoe UI"/>
              </a:rPr>
              <a:t>Frontend</a:t>
            </a:r>
          </a:p>
          <a:p>
            <a:pPr algn="ctr"/>
            <a:r>
              <a:rPr sz="1000" b="0">
                <a:solidFill>
                  <a:srgbClr val="6B7086"/>
                </a:solidFill>
                <a:latin typeface="Segoe UI"/>
              </a:rPr>
              <a:t>3 replicas
Service :80 → :8080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63240" y="3383280"/>
            <a:ext cx="1828800" cy="1691640"/>
          </a:xfrm>
          <a:prstGeom prst="roundRect">
            <a:avLst>
              <a:gd name="adj" fmla="val 8000"/>
            </a:avLst>
          </a:prstGeom>
          <a:solidFill>
            <a:srgbClr val="F4F5FB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C1F2E"/>
                </a:solidFill>
                <a:latin typeface="Segoe UI"/>
              </a:rPr>
              <a:t>Backend</a:t>
            </a:r>
          </a:p>
          <a:p>
            <a:pPr algn="ctr"/>
            <a:r>
              <a:rPr sz="1000" b="0">
                <a:solidFill>
                  <a:srgbClr val="6B7086"/>
                </a:solidFill>
                <a:latin typeface="Segoe UI"/>
              </a:rPr>
              <a:t>2 replicas
/health · /ready probes
Service :8000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0" y="3383280"/>
            <a:ext cx="1828800" cy="1691640"/>
          </a:xfrm>
          <a:prstGeom prst="roundRect">
            <a:avLst>
              <a:gd name="adj" fmla="val 8000"/>
            </a:avLst>
          </a:prstGeom>
          <a:solidFill>
            <a:srgbClr val="F4F5FB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C1F2E"/>
                </a:solidFill>
                <a:latin typeface="Segoe UI"/>
              </a:rPr>
              <a:t>PostgreSQL</a:t>
            </a:r>
          </a:p>
          <a:p>
            <a:pPr algn="ctr"/>
            <a:r>
              <a:rPr sz="1000" b="0">
                <a:solidFill>
                  <a:srgbClr val="6B7086"/>
                </a:solidFill>
                <a:latin typeface="Segoe UI"/>
              </a:rPr>
              <a:t>1 replica + PVC
Service :5432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737360" y="2880360"/>
            <a:ext cx="1554480" cy="484632"/>
          </a:xfrm>
          <a:prstGeom prst="line">
            <a:avLst/>
          </a:prstGeom>
          <a:ln w="22225">
            <a:solidFill>
              <a:srgbClr val="4F46E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931920" y="2880360"/>
            <a:ext cx="45719" cy="484632"/>
          </a:xfrm>
          <a:prstGeom prst="line">
            <a:avLst/>
          </a:prstGeom>
          <a:ln w="22225">
            <a:solidFill>
              <a:srgbClr val="4F46E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910328" y="4224528"/>
            <a:ext cx="374904" cy="0"/>
          </a:xfrm>
          <a:prstGeom prst="line">
            <a:avLst/>
          </a:prstGeom>
          <a:ln w="22225">
            <a:solidFill>
              <a:srgbClr val="6B708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22960" y="5303520"/>
            <a:ext cx="6309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ConfigMap + Secret inject DATABASE_URL • RollingUpdate maxUnavailable 0 • non-root security contexts • resource requests and limits on every container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1737360"/>
            <a:ext cx="406908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B8D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4F46E5"/>
                </a:solidFill>
                <a:latin typeface="Segoe UI"/>
              </a:rPr>
              <a:t>📷  Add your screenshot</a:t>
            </a:r>
          </a:p>
          <a:p>
            <a:pPr algn="ctr"/>
            <a:r>
              <a:rPr sz="1200" b="0">
                <a:solidFill>
                  <a:srgbClr val="1C1F2E"/>
                </a:solidFill>
                <a:latin typeface="Segoe UI"/>
              </a:rPr>
              <a:t>Pods, services &amp; Helm release</a:t>
            </a:r>
          </a:p>
          <a:p>
            <a:pPr algn="ctr"/>
            <a:r>
              <a:rPr sz="1100" b="0">
                <a:solidFill>
                  <a:srgbClr val="6B7086"/>
                </a:solidFill>
                <a:latin typeface="Consolas"/>
              </a:rPr>
              <a:t>kubectl get pods,svc -n devtrack
helm list -n devtrack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4114800"/>
            <a:ext cx="406908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B8D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4F46E5"/>
                </a:solidFill>
                <a:latin typeface="Segoe UI"/>
              </a:rPr>
              <a:t>📷  Add your screenshot</a:t>
            </a:r>
          </a:p>
          <a:p>
            <a:pPr algn="ctr"/>
            <a:r>
              <a:rPr sz="1200" b="0">
                <a:solidFill>
                  <a:srgbClr val="1C1F2E"/>
                </a:solidFill>
                <a:latin typeface="Segoe UI"/>
              </a:rPr>
              <a:t>App through the AWS Ingress / NLB</a:t>
            </a:r>
          </a:p>
          <a:p>
            <a:pPr algn="ctr"/>
            <a:r>
              <a:rPr sz="1100" b="0">
                <a:solidFill>
                  <a:srgbClr val="6B7086"/>
                </a:solidFill>
                <a:latin typeface="Consolas"/>
              </a:rPr>
              <a:t>kubectl get ingress -n devtrack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10 • OBSERVABILITY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1556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C1F2E"/>
                </a:solidFill>
                <a:latin typeface="Segoe UI"/>
              </a:rPr>
              <a:t>Instrumented in code, scraped by Prometheus, shown in Grafana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DevTrack Todo  •  Jinesh Gandhi  •  DevOps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11 /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42062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64792"/>
            <a:ext cx="54864" cy="108813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3840479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C1F2E"/>
                </a:solidFill>
                <a:latin typeface="Segoe UI"/>
              </a:rPr>
              <a:t>Instrument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3840479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B7086"/>
                </a:solidFill>
                <a:latin typeface="Segoe UI"/>
              </a:rPr>
              <a:t>FastAPI middleware records devtrack_http_requests_total and a latency histogram per route template.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172968"/>
            <a:ext cx="42062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337560"/>
            <a:ext cx="54864" cy="10881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10127"/>
            <a:ext cx="3840479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C1F2E"/>
                </a:solidFill>
                <a:latin typeface="Segoe UI"/>
              </a:rPr>
              <a:t>Collect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75887"/>
            <a:ext cx="3840479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B7086"/>
                </a:solidFill>
                <a:latin typeface="Segoe UI"/>
              </a:rPr>
              <a:t>Prometheus scrapes devtrack-backend:8000/metrics every 15 seconds via the cluster service.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745736"/>
            <a:ext cx="42062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910327"/>
            <a:ext cx="54864" cy="108813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882896"/>
            <a:ext cx="3840479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C1F2E"/>
                </a:solidFill>
                <a:latin typeface="Segoe UI"/>
              </a:rPr>
              <a:t>Visualise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48655"/>
            <a:ext cx="3840479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B7086"/>
                </a:solidFill>
                <a:latin typeface="Segoe UI"/>
              </a:rPr>
              <a:t>Grafana dashboard: availability, request rate, P95/P99 latency, 5xx errors, memory and CPU.</a:t>
            </a:r>
          </a:p>
        </p:txBody>
      </p:sp>
      <p:pic>
        <p:nvPicPr>
          <p:cNvPr id="19" name="Picture 18" descr="M9-backend-metrics.png"/>
          <p:cNvPicPr>
            <a:picLocks noChangeAspect="1"/>
          </p:cNvPicPr>
          <p:nvPr/>
        </p:nvPicPr>
        <p:blipFill>
          <a:blip r:embed="rId2"/>
          <a:srcRect b="52451"/>
          <a:stretch>
            <a:fillRect/>
          </a:stretch>
        </p:blipFill>
        <p:spPr>
          <a:xfrm>
            <a:off x="4983480" y="1600200"/>
            <a:ext cx="6675120" cy="2240280"/>
          </a:xfrm>
          <a:prstGeom prst="rect">
            <a:avLst/>
          </a:prstGeom>
          <a:ln w="12700">
            <a:solidFill>
              <a:srgbClr val="E4E6EF"/>
            </a:solidFill>
          </a:ln>
        </p:spPr>
      </p:pic>
      <p:sp>
        <p:nvSpPr>
          <p:cNvPr id="20" name="Rounded Rectangle 19"/>
          <p:cNvSpPr/>
          <p:nvPr/>
        </p:nvSpPr>
        <p:spPr>
          <a:xfrm>
            <a:off x="4983480" y="4023360"/>
            <a:ext cx="324612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B8D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4F46E5"/>
                </a:solidFill>
                <a:latin typeface="Segoe UI"/>
              </a:rPr>
              <a:t>📷  Add your screenshot</a:t>
            </a:r>
          </a:p>
          <a:p>
            <a:pPr algn="ctr"/>
            <a:r>
              <a:rPr sz="1200" b="0">
                <a:solidFill>
                  <a:srgbClr val="1C1F2E"/>
                </a:solidFill>
                <a:latin typeface="Segoe UI"/>
              </a:rPr>
              <a:t>Prometheus targets UP</a:t>
            </a:r>
          </a:p>
          <a:p>
            <a:pPr algn="ctr"/>
            <a:r>
              <a:rPr sz="1100" b="0">
                <a:solidFill>
                  <a:srgbClr val="6B7086"/>
                </a:solidFill>
                <a:latin typeface="Consolas"/>
              </a:rPr>
              <a:t>kubectl port-forward
-n monitoring svc/prometheus 9090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0" y="4023360"/>
            <a:ext cx="324612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B8D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4F46E5"/>
                </a:solidFill>
                <a:latin typeface="Segoe UI"/>
              </a:rPr>
              <a:t>📷  Add your screenshot</a:t>
            </a:r>
          </a:p>
          <a:p>
            <a:pPr algn="ctr"/>
            <a:r>
              <a:rPr sz="1200" b="0">
                <a:solidFill>
                  <a:srgbClr val="1C1F2E"/>
                </a:solidFill>
                <a:latin typeface="Segoe UI"/>
              </a:rPr>
              <a:t>Grafana dashboard</a:t>
            </a:r>
          </a:p>
          <a:p>
            <a:pPr algn="ctr"/>
            <a:r>
              <a:rPr sz="1100" b="0">
                <a:solidFill>
                  <a:srgbClr val="6B7086"/>
                </a:solidFill>
                <a:latin typeface="Consolas"/>
              </a:rPr>
              <a:t>kubectl port-forward
-n monitoring svc/grafana 3001:3000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11 • TROUBLESHOOTING &amp; RESILIENCE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1556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C1F2E"/>
                </a:solidFill>
                <a:latin typeface="Segoe UI"/>
              </a:rPr>
              <a:t>Diagnose from evidence, then fix the cause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155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6B7086"/>
                </a:solidFill>
                <a:latin typeface="Segoe UI"/>
              </a:rPr>
              <a:t>Two controlled failure drills for the live demo.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DevTrack Todo  •  Jinesh Gandhi  •  DevOps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12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5440680" cy="4069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37360"/>
            <a:ext cx="5440680" cy="73152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65960"/>
            <a:ext cx="49377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C1F2E"/>
                </a:solidFill>
                <a:latin typeface="Segoe UI"/>
              </a:rPr>
              <a:t>Drill 1 • ImagePullBackOff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" y="25603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EF4444"/>
                </a:solidFill>
                <a:latin typeface="Segoe UI"/>
              </a:rPr>
              <a:t>Inject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542032"/>
            <a:ext cx="3657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F2E"/>
                </a:solidFill>
                <a:latin typeface="Segoe UI"/>
              </a:rPr>
              <a:t>Deploy the backend with a tag that does not exist in GHCR.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59" y="3364991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EF4444"/>
                </a:solidFill>
                <a:latin typeface="Segoe UI"/>
              </a:rPr>
              <a:t>Observe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3346703"/>
            <a:ext cx="3657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F2E"/>
                </a:solidFill>
                <a:latin typeface="Segoe UI"/>
              </a:rPr>
              <a:t>kubectl get pods → ErrImagePull / ImagePullBackOff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59" y="4169663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EF4444"/>
                </a:solidFill>
                <a:latin typeface="Segoe UI"/>
              </a:rPr>
              <a:t>Diagnose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4151376"/>
            <a:ext cx="3657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F2E"/>
                </a:solidFill>
                <a:latin typeface="Segoe UI"/>
              </a:rPr>
              <a:t>kubectl describe pod → events show 'manifest unknown'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59" y="4974336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EF4444"/>
                </a:solidFill>
                <a:latin typeface="Segoe UI"/>
              </a:rPr>
              <a:t>Fix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4956048"/>
            <a:ext cx="3657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F2E"/>
                </a:solidFill>
                <a:latin typeface="Segoe UI"/>
              </a:rPr>
              <a:t>kubectl set image … :&lt;valid-sha&gt; or helm rollback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5440680" cy="4069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37360"/>
            <a:ext cx="544068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965960"/>
            <a:ext cx="49377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C1F2E"/>
                </a:solidFill>
                <a:latin typeface="Segoe UI"/>
              </a:rPr>
              <a:t>Drill 2 • Service with no endpoints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25603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59E0B"/>
                </a:solidFill>
                <a:latin typeface="Segoe UI"/>
              </a:rPr>
              <a:t>Inject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2542032"/>
            <a:ext cx="3657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F2E"/>
                </a:solidFill>
                <a:latin typeface="Segoe UI"/>
              </a:rPr>
              <a:t>Change the Service selector so it matches no Pod labels.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3364991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59E0B"/>
                </a:solidFill>
                <a:latin typeface="Segoe UI"/>
              </a:rPr>
              <a:t>Observe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3346703"/>
            <a:ext cx="3657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F2E"/>
                </a:solidFill>
                <a:latin typeface="Segoe UI"/>
              </a:rPr>
              <a:t>Frontend loads but /api calls fail (502/503).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4169663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59E0B"/>
                </a:solidFill>
                <a:latin typeface="Segoe UI"/>
              </a:rPr>
              <a:t>Diagnose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4151376"/>
            <a:ext cx="3657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F2E"/>
                </a:solidFill>
                <a:latin typeface="Segoe UI"/>
              </a:rPr>
              <a:t>kubectl get endpoints → &lt;none&gt;; get pods --show-labels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4974336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59E0B"/>
                </a:solidFill>
                <a:latin typeface="Segoe UI"/>
              </a:rPr>
              <a:t>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956048"/>
            <a:ext cx="3657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F2E"/>
                </a:solidFill>
                <a:latin typeface="Segoe UI"/>
              </a:rPr>
              <a:t>Restore selector app.kubernetes.io/name: devtrack-backend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989320"/>
            <a:ext cx="109728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6B7086"/>
                </a:solidFill>
                <a:latin typeface="Segoe UI"/>
              </a:rPr>
              <a:t>Readiness probe bonus: stop PostgreSQL and /ready returns 503, so Kubernetes stops routing traffic to that Pod.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12 •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1556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C1F2E"/>
                </a:solidFill>
                <a:latin typeface="Segoe UI"/>
              </a:rPr>
              <a:t>Evidence captured so far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155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6B7086"/>
                </a:solidFill>
                <a:latin typeface="Segoe UI"/>
              </a:rPr>
              <a:t>Local results below were produced on 16 October 2026; cloud evidence is added after the AWS deployment.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DevTrack Todo  •  Jinesh Gandhi  •  DevOps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13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Segoe UI"/>
              </a:rPr>
              <a:t>Verified locally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79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10B981"/>
                </a:solidFill>
                <a:latin typeface="Segoe U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194560"/>
            <a:ext cx="49377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C1F2E"/>
                </a:solidFill>
                <a:latin typeface="Segoe UI"/>
              </a:rPr>
              <a:t>Application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6B7086"/>
                </a:solidFill>
                <a:latin typeface="Segoe UI"/>
              </a:rPr>
              <a:t>Todo CRUD, filters, stats and edit flow work through the Nginx /api proxy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26663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10B981"/>
                </a:solidFill>
                <a:latin typeface="Segoe U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980944"/>
            <a:ext cx="49377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C1F2E"/>
                </a:solidFill>
                <a:latin typeface="Segoe UI"/>
              </a:rPr>
              <a:t>Tests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6B7086"/>
                </a:solidFill>
                <a:latin typeface="Segoe UI"/>
              </a:rPr>
              <a:t>28 / 28 pytest tests pass; Alembic migration matches the models (alembic check)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13048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10B981"/>
                </a:solidFill>
                <a:latin typeface="Segoe U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767328"/>
            <a:ext cx="49377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C1F2E"/>
                </a:solidFill>
                <a:latin typeface="Segoe UI"/>
              </a:rPr>
              <a:t>Containers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6B7086"/>
                </a:solidFill>
                <a:latin typeface="Segoe UI"/>
              </a:rPr>
              <a:t>3-service Compose stack healthy; migration applied on start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599432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10B981"/>
                </a:solidFill>
                <a:latin typeface="Segoe U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553712"/>
            <a:ext cx="49377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C1F2E"/>
                </a:solidFill>
                <a:latin typeface="Segoe UI"/>
              </a:rPr>
              <a:t>Security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6B7086"/>
                </a:solidFill>
                <a:latin typeface="Segoe UI"/>
              </a:rPr>
              <a:t>Trivy: 0 HIGH / 0 CRITICAL in backend and frontend images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85816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10B981"/>
                </a:solidFill>
                <a:latin typeface="Segoe U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340096"/>
            <a:ext cx="49377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C1F2E"/>
                </a:solidFill>
                <a:latin typeface="Segoe UI"/>
              </a:rPr>
              <a:t>Probes &amp; metrics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6B7086"/>
                </a:solidFill>
                <a:latin typeface="Segoe UI"/>
              </a:rPr>
              <a:t>/health, /ready (DB check) and /metrics respond correctly</a:t>
            </a:r>
          </a:p>
        </p:txBody>
      </p:sp>
      <p:pic>
        <p:nvPicPr>
          <p:cNvPr id="19" name="Picture 18" descr="M4-health-readiness-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299887"/>
            <a:ext cx="5349240" cy="3401225"/>
          </a:xfrm>
          <a:prstGeom prst="rect">
            <a:avLst/>
          </a:prstGeom>
          <a:ln w="12700">
            <a:solidFill>
              <a:srgbClr val="E4E6EF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13 • CONCLUSION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1556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C1F2E"/>
                </a:solidFill>
                <a:latin typeface="Segoe UI"/>
              </a:rPr>
              <a:t>From commit to observed workload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DevTrack Todo  •  Jinesh Gandhi  •  DevOps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14 /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35204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64792"/>
            <a:ext cx="54864" cy="127101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3154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C1F2E"/>
                </a:solidFill>
                <a:latin typeface="Segoe UI"/>
              </a:rPr>
              <a:t>Built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315468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6B7086"/>
                </a:solidFill>
                <a:latin typeface="Segoe UI"/>
              </a:rPr>
              <a:t>Todo app with React UI, FastAPI REST API, PostgreSQL and Alembic migrations.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600200"/>
            <a:ext cx="35204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79" y="1764792"/>
            <a:ext cx="54864" cy="1271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1737360"/>
            <a:ext cx="3154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C1F2E"/>
                </a:solidFill>
                <a:latin typeface="Segoe UI"/>
              </a:rPr>
              <a:t>Automated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2103120"/>
            <a:ext cx="315468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6B7086"/>
                </a:solidFill>
                <a:latin typeface="Segoe UI"/>
              </a:rPr>
              <a:t>Tests, lint, image builds, Trivy scanning, GHCR publishing and GitOps image pinning.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600200"/>
            <a:ext cx="35204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19" y="1764792"/>
            <a:ext cx="54864" cy="1271016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19" y="1737360"/>
            <a:ext cx="3154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C1F2E"/>
                </a:solidFill>
                <a:latin typeface="Segoe UI"/>
              </a:rPr>
              <a:t>Operated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19" y="2103120"/>
            <a:ext cx="315468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6B7086"/>
                </a:solidFill>
                <a:latin typeface="Segoe UI"/>
              </a:rPr>
              <a:t>Terraform-provisioned EKS, Helm release, Ingress, probes, Prometheus and Grafana.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20440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C1F2E"/>
                </a:solidFill>
                <a:latin typeface="Segoe UI"/>
              </a:rPr>
              <a:t>Next steps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23360"/>
            <a:ext cx="54406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1C1F2E"/>
                </a:solidFill>
                <a:latin typeface="Segoe UI"/>
              </a:rPr>
              <a:t>Horizontal Pod Autoscaler on backend CPU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023360"/>
            <a:ext cx="54406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1C1F2E"/>
                </a:solidFill>
                <a:latin typeface="Segoe UI"/>
              </a:rPr>
              <a:t>Amazon RDS instead of in-cluster PostgreSQL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590288"/>
            <a:ext cx="54406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1C1F2E"/>
                </a:solidFill>
                <a:latin typeface="Segoe UI"/>
              </a:rPr>
              <a:t>User accounts and per-user todo lists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590288"/>
            <a:ext cx="54406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1C1F2E"/>
                </a:solidFill>
                <a:latin typeface="Segoe UI"/>
              </a:rPr>
              <a:t>TLS with cert-manager + a custom domain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157216"/>
            <a:ext cx="54406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1C1F2E"/>
                </a:solidFill>
                <a:latin typeface="Segoe UI"/>
              </a:rPr>
              <a:t>Alerting rules (error rate, latency) to Slack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5157216"/>
            <a:ext cx="54406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1C1F2E"/>
                </a:solidFill>
                <a:latin typeface="Segoe UI"/>
              </a:rPr>
              <a:t>Remote Terraform state in S3 with locking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4F46E5"/>
                </a:solidFill>
                <a:latin typeface="Segoe UI"/>
              </a:rPr>
              <a:t>Lesson: a feature is not finished until it is tested, scanned, deployed and observable.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6000" b="1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154680"/>
            <a:ext cx="106984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400" b="0">
                <a:solidFill>
                  <a:srgbClr val="818CF8"/>
                </a:solidFill>
                <a:latin typeface="Segoe UI"/>
              </a:rPr>
              <a:t>Questions &amp;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Jinesh Gandhi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A4A8C3"/>
                </a:solidFill>
                <a:latin typeface="Consolas"/>
              </a:rPr>
              <a:t>github.com/jineshgandhi79/Devops-capstone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57784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1F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4F46E5"/>
                </a:solidFill>
                <a:latin typeface="Segoe UI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57400" y="557784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1F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10B981"/>
                </a:solidFill>
                <a:latin typeface="Segoe UI"/>
              </a:rPr>
              <a:t>Git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557784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1F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0EA5E9"/>
                </a:solidFill>
                <a:latin typeface="Segoe UI"/>
              </a:rPr>
              <a:t>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59" y="557784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1F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59E0B"/>
                </a:solidFill>
                <a:latin typeface="Segoe UI"/>
              </a:rPr>
              <a:t>Docker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557784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1F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EF4444"/>
                </a:solidFill>
                <a:latin typeface="Segoe UI"/>
              </a:rPr>
              <a:t>Trivy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557784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1F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8B5CF6"/>
                </a:solidFill>
                <a:latin typeface="Segoe UI"/>
              </a:rPr>
              <a:t>Terraform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557784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1F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0EA5E9"/>
                </a:solidFill>
                <a:latin typeface="Segoe UI"/>
              </a:rPr>
              <a:t>Helm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557784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1F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59E0B"/>
                </a:solidFill>
                <a:latin typeface="Segoe UI"/>
              </a:rPr>
              <a:t>Grafana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