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7772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DevTrack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14300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A4A8C3"/>
                </a:solidFill>
                <a:latin typeface="Segoe UI"/>
              </a:rPr>
              <a:t>Final DevOps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76656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From commit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to running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000" b="1">
                <a:solidFill>
                  <a:srgbClr val="818CF8"/>
                </a:solidFill>
                <a:latin typeface="Segoe UI"/>
              </a:rPr>
              <a:t>to observed.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4572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EA5E9"/>
                </a:solidFill>
                <a:latin typeface="Segoe UI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5536" y="4572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4572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818CF8"/>
                </a:solidFill>
                <a:latin typeface="Segoe UI"/>
              </a:rPr>
              <a:t>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9552" y="4572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C4899"/>
                </a:solidFill>
                <a:latin typeface="Segoe UI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Jinesh Gandhi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A4A8C3"/>
                </a:solidFill>
                <a:latin typeface="Consolas"/>
              </a:rPr>
              <a:t>github.com/jineshgandhi79/Devops-capstone</a:t>
            </a:r>
          </a:p>
        </p:txBody>
      </p:sp>
      <p:pic>
        <p:nvPicPr>
          <p:cNvPr id="12" name="Picture 11" descr="M1-applicatio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1416"/>
            <a:ext cx="4434840" cy="3846607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01 •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Organise the work. Ship it reliably.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DevTrack Todo pairs a useful everyday product with a production-style delivery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54864" cy="16824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The product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029200" cy="1417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Tasks live in heads, chats and sticky notes. People need one place to capture todos, set priorities and due dates, group them by category and see what is overdue.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93392"/>
            <a:ext cx="54864" cy="16824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The delivery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5029200" cy="1417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Manual releases are hard to reproduce. Untested code, unscanned images and missing metrics turn every deployment into a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Project goals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36592"/>
            <a:ext cx="54864" cy="13167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Working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228600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Full CRUD todo app with filters, stats and a responsive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45720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4736592"/>
            <a:ext cx="54864" cy="13167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470916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Quality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5074920"/>
            <a:ext cx="228600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Automated tests and image scanning before anything 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5720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4736592"/>
            <a:ext cx="54864" cy="13167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470916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Reproducible infra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074920"/>
            <a:ext cx="228600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AWS network and EKS cluster described as code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457200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97696" y="4736592"/>
            <a:ext cx="54864" cy="13167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470916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Observable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074920"/>
            <a:ext cx="228600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Health probes, metrics and dashboards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02 •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A focused todo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Screenshots captured from the running Docker Compose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3 / 17</a:t>
            </a:r>
          </a:p>
        </p:txBody>
      </p:sp>
      <p:pic>
        <p:nvPicPr>
          <p:cNvPr id="8" name="Picture 7" descr="M1-application-dashboard.png"/>
          <p:cNvPicPr>
            <a:picLocks noChangeAspect="1"/>
          </p:cNvPicPr>
          <p:nvPr/>
        </p:nvPicPr>
        <p:blipFill>
          <a:blip r:embed="rId2"/>
          <a:srcRect b="21822"/>
          <a:stretch>
            <a:fillRect/>
          </a:stretch>
        </p:blipFill>
        <p:spPr>
          <a:xfrm>
            <a:off x="548640" y="1737360"/>
            <a:ext cx="6675120" cy="452628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498079" y="18105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Smart views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All · Active · Due today · Overdue ·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5694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496312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Organise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Priorities, categories and due 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3284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55263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Find fast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Search, category filter and 4 sort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0873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014215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Track progress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Live stat cards and completion 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8463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773168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Edit in place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Modal editor, one-click complete, safe delete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605271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532119"/>
            <a:ext cx="3840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Responsive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Desktop sidebar → mobile scrolling tabs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03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Four paths through one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Request path, delivery path, GitOps path and infrastructure / observability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REQUEST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Browser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86783" y="2112264"/>
            <a:ext cx="283465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88536" y="182880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Ingress NGINX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79" y="2112264"/>
            <a:ext cx="283465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9631" y="182880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React SPA (Nginx)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08975" y="2112264"/>
            <a:ext cx="283465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10727" y="182880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FastAPI /api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20072" y="2112264"/>
            <a:ext cx="283464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21824" y="182880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9008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DELIVERY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288036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git push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6783" y="3163824"/>
            <a:ext cx="283465" cy="0"/>
          </a:xfrm>
          <a:prstGeom prst="line">
            <a:avLst/>
          </a:prstGeom>
          <a:ln w="222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88536" y="288036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pytest + build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79" y="3163824"/>
            <a:ext cx="283465" cy="0"/>
          </a:xfrm>
          <a:prstGeom prst="line">
            <a:avLst/>
          </a:prstGeom>
          <a:ln w="222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9631" y="288036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Docker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08975" y="3163824"/>
            <a:ext cx="283465" cy="0"/>
          </a:xfrm>
          <a:prstGeom prst="line">
            <a:avLst/>
          </a:prstGeom>
          <a:ln w="222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0727" y="288036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Trivy scan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0072" y="3163824"/>
            <a:ext cx="283464" cy="0"/>
          </a:xfrm>
          <a:prstGeom prst="line">
            <a:avLst/>
          </a:prstGeom>
          <a:ln w="22225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21824" y="288036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GHCR :sha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4164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GITOPS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393192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CI pins SHA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86783" y="4215383"/>
            <a:ext cx="283465" cy="0"/>
          </a:xfrm>
          <a:prstGeom prst="line">
            <a:avLst/>
          </a:prstGeom>
          <a:ln w="22225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8536" y="393192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values.yaml commit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97879" y="4215383"/>
            <a:ext cx="283465" cy="0"/>
          </a:xfrm>
          <a:prstGeom prst="line">
            <a:avLst/>
          </a:prstGeom>
          <a:ln w="22225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99631" y="393192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ArgoCD sync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08975" y="4215383"/>
            <a:ext cx="283465" cy="0"/>
          </a:xfrm>
          <a:prstGeom prst="line">
            <a:avLst/>
          </a:prstGeom>
          <a:ln w="22225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10727" y="393192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Helm release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20072" y="4215383"/>
            <a:ext cx="283464" cy="0"/>
          </a:xfrm>
          <a:prstGeom prst="line">
            <a:avLst/>
          </a:prstGeom>
          <a:ln w="22225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21824" y="393192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Rolling update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9320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Segoe UI"/>
              </a:rPr>
              <a:t>PLATFORM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0" y="498348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Terraform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86783" y="5266944"/>
            <a:ext cx="283465" cy="0"/>
          </a:xfrm>
          <a:prstGeom prst="line">
            <a:avLst/>
          </a:prstGeom>
          <a:ln w="22225">
            <a:solidFill>
              <a:srgbClr val="0EA5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88536" y="498348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VPC + subnets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97879" y="5266944"/>
            <a:ext cx="283465" cy="0"/>
          </a:xfrm>
          <a:prstGeom prst="line">
            <a:avLst/>
          </a:prstGeom>
          <a:ln w="22225">
            <a:solidFill>
              <a:srgbClr val="0EA5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199631" y="498348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EKS + nodes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08975" y="5266944"/>
            <a:ext cx="283465" cy="0"/>
          </a:xfrm>
          <a:prstGeom prst="line">
            <a:avLst/>
          </a:prstGeom>
          <a:ln w="22225">
            <a:solidFill>
              <a:srgbClr val="0EA5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110727" y="498348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Prometheus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0072" y="5266944"/>
            <a:ext cx="283464" cy="0"/>
          </a:xfrm>
          <a:prstGeom prst="line">
            <a:avLst/>
          </a:prstGeom>
          <a:ln w="22225">
            <a:solidFill>
              <a:srgbClr val="0EA5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021824" y="4983480"/>
            <a:ext cx="1591055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C1F2E"/>
                </a:solidFill>
                <a:latin typeface="Segoe UI"/>
              </a:rPr>
              <a:t>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Rule: the cluster only changes through Git, so every running image traces back to a commit SHA.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04 •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Every layer has one clear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Vite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Oxlint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7889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Nginx unprivileged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6002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82880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Pydantic 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79" y="27889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SQLAlchemy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27889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Alembic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60020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82880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Data &amp;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19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PostgreSQL 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19" y="23317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Pytest (28 tests)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27889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SQLite test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77639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Docker / Compose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GitHub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1663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Trivy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51663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GHCR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79" y="3977639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79" y="3977639"/>
            <a:ext cx="356616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420624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79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Terraform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79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AWS VPC + EKS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79" y="51663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Helm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79" y="51663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ArgoCD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3977639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19" y="3977639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420624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Observability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19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Prometheus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19" y="47091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Grafana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19" y="5166359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1F2E"/>
                </a:solidFill>
                <a:latin typeface="Segoe UI"/>
              </a:rPr>
              <a:t>Health / ready probes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05 • BACKEND, DATA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A validated REST API with isolated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28 pytest tests pass locally; CI also applies the migrations to a real PostgreSQL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20239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19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92807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list · filter · search · sort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95727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68296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dashboard counters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71215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25496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43784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read 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46703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00984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319272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22191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76472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94759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partial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51960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/api/todos/{id}/toggle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270248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complete / reopen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731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727448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45736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delete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48655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202936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/api/todos/completed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221223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clear completed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2414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678424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C1F2E"/>
                </a:solidFill>
                <a:latin typeface="Consolas"/>
              </a:rPr>
              <a:t>/health · /ready · /metrics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696712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operations</a:t>
            </a:r>
          </a:p>
        </p:txBody>
      </p:sp>
      <p:pic>
        <p:nvPicPr>
          <p:cNvPr id="36" name="Picture 35" descr="M2-pytest-pa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14906"/>
            <a:ext cx="5257800" cy="4171188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06 •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A reproducible local stack in dependency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docker compose up --build starts PostgreSQL, then the API (after migrations), then the frontend.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4864" cy="1179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54680" cy="914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postgres:16-alpine
Named data volume
pg_isready health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2487168"/>
            <a:ext cx="192024" cy="0"/>
          </a:xfrm>
          <a:prstGeom prst="line">
            <a:avLst/>
          </a:prstGeom>
          <a:ln w="22225">
            <a:solidFill>
              <a:srgbClr val="6B70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79" y="17373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901952"/>
            <a:ext cx="54864" cy="1179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874519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240280"/>
            <a:ext cx="3154680" cy="914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python:3.12-slim, non-root UID 1000
alembic upgrade head → uvicorn
/health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6408" y="2487168"/>
            <a:ext cx="192023" cy="0"/>
          </a:xfrm>
          <a:prstGeom prst="line">
            <a:avLst/>
          </a:prstGeom>
          <a:ln w="22225">
            <a:solidFill>
              <a:srgbClr val="6B70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46719" y="17373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901952"/>
            <a:ext cx="54864" cy="1179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874519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240280"/>
            <a:ext cx="3154680" cy="914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Multi-stage: node:20 → nginx
Unprivileged, port 8080
Proxies /api to backend</a:t>
            </a:r>
          </a:p>
        </p:txBody>
      </p:sp>
      <p:pic>
        <p:nvPicPr>
          <p:cNvPr id="22" name="Picture 21" descr="M4-docker-compose-running.png"/>
          <p:cNvPicPr>
            <a:picLocks noChangeAspect="1"/>
          </p:cNvPicPr>
          <p:nvPr/>
        </p:nvPicPr>
        <p:blipFill>
          <a:blip r:embed="rId2"/>
          <a:srcRect b="8910"/>
          <a:stretch>
            <a:fillRect/>
          </a:stretch>
        </p:blipFill>
        <p:spPr>
          <a:xfrm>
            <a:off x="548640" y="3474720"/>
            <a:ext cx="6400800" cy="278892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23" name="Picture 22" descr="M4-postgres-todos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758374"/>
            <a:ext cx="4480560" cy="2221611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07 • CI/CD &amp; 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Quality gates before a SHA-tagged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.github/workflows/ci.yml — run #3 on commit 85c2edf: all five jobs green in 1 m 44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Push /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main branch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8568" y="2468880"/>
            <a:ext cx="164592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32304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pytest + alembic
on 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42232" y="2468880"/>
            <a:ext cx="164592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5968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lint + vite build
docker images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25896" y="2468880"/>
            <a:ext cx="164592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9631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3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3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3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Trivy HIGH/CRITICAL
vuln + secrets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9559" y="2468880"/>
            <a:ext cx="164592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83296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Publish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GHCR
:sha and :latest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93224" y="2468880"/>
            <a:ext cx="164592" cy="0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66960" y="1737360"/>
            <a:ext cx="170078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1552" y="1810512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2057400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1552" y="2423160"/>
            <a:ext cx="1463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pin SHA in Helm
values (GitOps)</a:t>
            </a:r>
          </a:p>
        </p:txBody>
      </p:sp>
      <p:pic>
        <p:nvPicPr>
          <p:cNvPr id="37" name="Picture 36" descr="M5-github-actions-success.png"/>
          <p:cNvPicPr>
            <a:picLocks noChangeAspect="1"/>
          </p:cNvPicPr>
          <p:nvPr/>
        </p:nvPicPr>
        <p:blipFill>
          <a:blip r:embed="rId2"/>
          <a:srcRect b="18017"/>
          <a:stretch>
            <a:fillRect/>
          </a:stretch>
        </p:blipFill>
        <p:spPr>
          <a:xfrm>
            <a:off x="548640" y="3429000"/>
            <a:ext cx="5532120" cy="283464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38" name="Picture 37" descr="M6-trivy-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839260"/>
            <a:ext cx="5394960" cy="2014118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08 • REGISTRY &amp; 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Every green run publishes and pins an immutable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CI pushes ghcr.io/jineshgandhi79/devtrack-*:&lt;sha&gt;, then github-actions[bot] commits that SHA to helm/devtrack/values.yaml.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9 / 17</a:t>
            </a:r>
          </a:p>
        </p:txBody>
      </p:sp>
      <p:pic>
        <p:nvPicPr>
          <p:cNvPr id="8" name="Picture 7" descr="M3-github-commit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1712"/>
            <a:ext cx="5532120" cy="3457574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9" name="Picture 8" descr="M5-ghcr-pack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14575"/>
            <a:ext cx="5394960" cy="337185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09 •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Terraform describes the AWS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Region ap-southeast-2 (Sydney) • terraform init → validate → plan → apply →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76656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EA5E9"/>
                </a:solidFill>
                <a:latin typeface="Segoe UI"/>
              </a:rPr>
              <a:t>VPC  •  10.0.0.0/16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3063240" cy="3749039"/>
          </a:xfrm>
          <a:prstGeom prst="roundRect">
            <a:avLst>
              <a:gd name="adj" fmla="val 8000"/>
            </a:avLst>
          </a:prstGeom>
          <a:solidFill>
            <a:srgbClr val="F4F5FB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086"/>
                </a:solidFill>
                <a:latin typeface="Segoe UI"/>
              </a:rPr>
              <a:t>AZ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43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Public subnet</a:t>
            </a:r>
          </a:p>
          <a:p>
            <a:pPr algn="ctr"/>
            <a:r>
              <a:rPr sz="1100" b="0">
                <a:solidFill>
                  <a:srgbClr val="6B7086"/>
                </a:solidFill>
                <a:latin typeface="Consolas"/>
              </a:rPr>
              <a:t>10.0.1.0/24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IGW + NAT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77639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Private subnet</a:t>
            </a:r>
          </a:p>
          <a:p>
            <a:pPr algn="ctr"/>
            <a:r>
              <a:rPr sz="1100" b="0">
                <a:solidFill>
                  <a:srgbClr val="6B7086"/>
                </a:solidFill>
                <a:latin typeface="Consolas"/>
              </a:rPr>
              <a:t>10.0.10.0/24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EKS worker nodes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t3.medium (AL2023)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286000"/>
            <a:ext cx="3063240" cy="3749039"/>
          </a:xfrm>
          <a:prstGeom prst="roundRect">
            <a:avLst>
              <a:gd name="adj" fmla="val 8000"/>
            </a:avLst>
          </a:prstGeom>
          <a:solidFill>
            <a:srgbClr val="F4F5FB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086"/>
                </a:solidFill>
                <a:latin typeface="Segoe UI"/>
              </a:rPr>
              <a:t>AZ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743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Public subnet</a:t>
            </a:r>
          </a:p>
          <a:p>
            <a:pPr algn="ctr"/>
            <a:r>
              <a:rPr sz="1100" b="0">
                <a:solidFill>
                  <a:srgbClr val="6B7086"/>
                </a:solidFill>
                <a:latin typeface="Consolas"/>
              </a:rPr>
              <a:t>10.0.2.0/24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IGW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977639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Private subnet</a:t>
            </a:r>
          </a:p>
          <a:p>
            <a:pPr algn="ctr"/>
            <a:r>
              <a:rPr sz="1100" b="0">
                <a:solidFill>
                  <a:srgbClr val="6B7086"/>
                </a:solidFill>
                <a:latin typeface="Consolas"/>
              </a:rPr>
              <a:t>10.0.11.0/24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EKS worker nodes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t3.medium (AL2023)</a:t>
            </a:r>
          </a:p>
        </p:txBody>
      </p:sp>
      <p:pic>
        <p:nvPicPr>
          <p:cNvPr id="18" name="Picture 17" descr="M7-terraform-validate.png"/>
          <p:cNvPicPr>
            <a:picLocks noChangeAspect="1"/>
          </p:cNvPicPr>
          <p:nvPr/>
        </p:nvPicPr>
        <p:blipFill>
          <a:blip r:embed="rId2"/>
          <a:srcRect b="3692"/>
          <a:stretch>
            <a:fillRect/>
          </a:stretch>
        </p:blipFill>
        <p:spPr>
          <a:xfrm>
            <a:off x="7589520" y="1737360"/>
            <a:ext cx="4069080" cy="214884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7589520" y="411480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B8D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📷  Add your screenshot</a:t>
            </a:r>
          </a:p>
          <a:p>
            <a:pPr algn="ctr"/>
            <a:r>
              <a:rPr sz="1200" b="0">
                <a:solidFill>
                  <a:srgbClr val="1C1F2E"/>
                </a:solidFill>
                <a:latin typeface="Segoe UI"/>
              </a:rPr>
              <a:t>EKS cluster &amp; VPC in the AWS console</a:t>
            </a:r>
          </a:p>
          <a:p>
            <a:pPr algn="ctr"/>
            <a:r>
              <a:rPr sz="1100" b="0">
                <a:solidFill>
                  <a:srgbClr val="6B7086"/>
                </a:solidFill>
                <a:latin typeface="Consolas"/>
              </a:rPr>
              <a:t>terraform plan / apply
(needs AWS credentials)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10 • KUBERNETES &amp;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Declarative delivery with probes and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Shown on a local 3-node kind cluster running the CI-built GHCR images; the same chart targets 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76656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Segoe UI"/>
              </a:rPr>
              <a:t>Cluster  •  namespace: devtrack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3172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Ingress NGINX  ( /  ·  /api  ·  /docs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4F5FB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1F2E"/>
                </a:solidFill>
                <a:latin typeface="Segoe UI"/>
              </a:rPr>
              <a:t>Frontend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3 replicas
Service :80 → :8080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38328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4F5FB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1F2E"/>
                </a:solidFill>
                <a:latin typeface="Segoe UI"/>
              </a:rPr>
              <a:t>Backend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2 replicas
/health · /ready probes
Service :8000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38328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4F5FB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1F2E"/>
                </a:solidFill>
                <a:latin typeface="Segoe UI"/>
              </a:rPr>
              <a:t>PostgreSQL</a:t>
            </a:r>
          </a:p>
          <a:p>
            <a:pPr algn="ctr"/>
            <a:r>
              <a:rPr sz="1000" b="0">
                <a:solidFill>
                  <a:srgbClr val="6B7086"/>
                </a:solidFill>
                <a:latin typeface="Segoe UI"/>
              </a:rPr>
              <a:t>1 replica + PVC
Service :5432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37360" y="2880360"/>
            <a:ext cx="1554480" cy="484632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880360"/>
            <a:ext cx="45719" cy="484632"/>
          </a:xfrm>
          <a:prstGeom prst="line">
            <a:avLst/>
          </a:prstGeom>
          <a:ln w="22225">
            <a:solidFill>
              <a:srgbClr val="4F46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10328" y="4224528"/>
            <a:ext cx="374904" cy="0"/>
          </a:xfrm>
          <a:prstGeom prst="line">
            <a:avLst/>
          </a:prstGeom>
          <a:ln w="22225">
            <a:solidFill>
              <a:srgbClr val="6B70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303520"/>
            <a:ext cx="6309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Rolling update to the new SHA completed with 0 restarts • backend waits for PostgreSQL before migrating • non-root containers • requests and limits on every container</a:t>
            </a:r>
          </a:p>
        </p:txBody>
      </p:sp>
      <p:pic>
        <p:nvPicPr>
          <p:cNvPr id="18" name="Picture 17" descr="M8-kubernetes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87822"/>
            <a:ext cx="4069080" cy="1447914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19" name="Picture 18" descr="M8-helm-rel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394053"/>
            <a:ext cx="4069080" cy="1590332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11 •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Instrumented in code, scraped by Prometheus, shown in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54864" cy="10881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84047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Instrument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840479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FastAPI middleware records devtrack_http_requests_total and a latency histogram per route template.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4864" cy="10881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7"/>
            <a:ext cx="384047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7"/>
            <a:ext cx="3840479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Prometheus scrapes devtrack-backend:8000/metrics every 15 seconds — target UP (1/1).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45736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10327"/>
            <a:ext cx="54864" cy="10881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384047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C1F2E"/>
                </a:solidFill>
                <a:latin typeface="Segoe UI"/>
              </a:rPr>
              <a:t>Visualise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48655"/>
            <a:ext cx="3840479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Grafana dashboard: availability, request rate, P95 latency, 5xx errors, memory and CPU.</a:t>
            </a:r>
          </a:p>
        </p:txBody>
      </p:sp>
      <p:pic>
        <p:nvPicPr>
          <p:cNvPr id="19" name="Picture 18" descr="M9-grafana-dashboard.png"/>
          <p:cNvPicPr>
            <a:picLocks noChangeAspect="1"/>
          </p:cNvPicPr>
          <p:nvPr/>
        </p:nvPicPr>
        <p:blipFill>
          <a:blip r:embed="rId2"/>
          <a:srcRect b="33151"/>
          <a:stretch>
            <a:fillRect/>
          </a:stretch>
        </p:blipFill>
        <p:spPr>
          <a:xfrm>
            <a:off x="4983480" y="1600200"/>
            <a:ext cx="6675120" cy="278892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20" name="Picture 19" descr="M9-prometheus-targets.png"/>
          <p:cNvPicPr>
            <a:picLocks noChangeAspect="1"/>
          </p:cNvPicPr>
          <p:nvPr/>
        </p:nvPicPr>
        <p:blipFill>
          <a:blip r:embed="rId3"/>
          <a:srcRect b="16620"/>
          <a:stretch>
            <a:fillRect/>
          </a:stretch>
        </p:blipFill>
        <p:spPr>
          <a:xfrm>
            <a:off x="4983480" y="4572000"/>
            <a:ext cx="3246120" cy="169164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21" name="Picture 20" descr="M9-prometheus-query.png"/>
          <p:cNvPicPr>
            <a:picLocks noChangeAspect="1"/>
          </p:cNvPicPr>
          <p:nvPr/>
        </p:nvPicPr>
        <p:blipFill>
          <a:blip r:embed="rId4"/>
          <a:srcRect b="16620"/>
          <a:stretch>
            <a:fillRect/>
          </a:stretch>
        </p:blipFill>
        <p:spPr>
          <a:xfrm>
            <a:off x="8412480" y="4572000"/>
            <a:ext cx="3246120" cy="169164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12 • TROUBLESHOOTING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Diagnose from evidence, then fix the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Both drills were executed on the cluster — the terminal evidence is on the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406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4068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C1F2E"/>
                </a:solidFill>
                <a:latin typeface="Segoe UI"/>
              </a:rPr>
              <a:t>Drill 1 • ImagePullBackOff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560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Inject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42032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Start a pod whose image tag does not exist in GHCR.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336499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46703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kubectl get pod → ErrImagePull / ImagePullBackOff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16966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51376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kubectl describe pod → 'Failed to pull image … NotFound'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49743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956048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Recreate it with a real commit-SHA tag published by 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54406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54406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C1F2E"/>
                </a:solidFill>
                <a:latin typeface="Segoe UI"/>
              </a:rPr>
              <a:t>Drill 2 • Service with no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560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Inject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542032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Service selector typo: app=lab-wbe instead of lab-web.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6499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346703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curl http://lab-web fails; endpoints show &lt;none&gt;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16966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Diagnose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51376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Compare the Service selector with pod --show-labels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9743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956048"/>
            <a:ext cx="3657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F2E"/>
                </a:solidFill>
                <a:latin typeface="Segoe UI"/>
              </a:rPr>
              <a:t>kubectl patch the selector → endpoints appear, HTTP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6"/>
                </a:solidFill>
                <a:latin typeface="Segoe UI"/>
              </a:rPr>
              <a:t>Found while drilling: Nginx crashed when the backend name was unresolvable — fixed by resolving it per request.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13 • DRILLS, EXECUTED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Real output from the troubleshooting-lab 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14 / 17</a:t>
            </a:r>
          </a:p>
        </p:txBody>
      </p:sp>
      <p:pic>
        <p:nvPicPr>
          <p:cNvPr id="7" name="Picture 6" descr="M10-troubleshooting-imagepullback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8538"/>
            <a:ext cx="5532120" cy="3323882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pic>
        <p:nvPicPr>
          <p:cNvPr id="8" name="Picture 7" descr="M10-troubleshooting-service-sel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72538"/>
            <a:ext cx="5394960" cy="3335883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14 •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Evidence captured on 16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B7086"/>
                </a:solidFill>
                <a:latin typeface="Segoe UI"/>
              </a:rPr>
              <a:t>Everything below was run for real; only the AWS EKS deployment still needs cloud credentials.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282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Application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Todo CRUD, filters and stats through Nginx and the Ingress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68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Tests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28 / 28 pytest; migration matches models; CI on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254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Security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Trivy 0 HIGH / 0 CRITICAL locally and as a CI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741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CI/CD &amp; registry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All 5 jobs green; SHA-tagged images public in GHCR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GitOps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Bot commits pin each new SHA in the Helm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714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Kubernetes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Helm release on 3-node cluster pulling GHCR images, 0 restarts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005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83479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Observability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Prometheus target UP; Grafana panels populated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686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3212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>
                <a:solidFill>
                  <a:srgbClr val="1C1F2E"/>
                </a:solidFill>
                <a:latin typeface="Segoe UI"/>
              </a:rPr>
              <a:t>Terraform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init, fmt -check and validate pass</a:t>
            </a:r>
          </a:p>
        </p:txBody>
      </p:sp>
      <p:pic>
        <p:nvPicPr>
          <p:cNvPr id="24" name="Picture 23" descr="M8-ingress-application.png"/>
          <p:cNvPicPr>
            <a:picLocks noChangeAspect="1"/>
          </p:cNvPicPr>
          <p:nvPr/>
        </p:nvPicPr>
        <p:blipFill>
          <a:blip r:embed="rId2"/>
          <a:srcRect b="171"/>
          <a:stretch>
            <a:fillRect/>
          </a:stretch>
        </p:blipFill>
        <p:spPr>
          <a:xfrm>
            <a:off x="6309360" y="1691640"/>
            <a:ext cx="5349240" cy="3337560"/>
          </a:xfrm>
          <a:prstGeom prst="rect">
            <a:avLst/>
          </a:prstGeom>
          <a:ln w="12700">
            <a:solidFill>
              <a:srgbClr val="E4E6EF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309360" y="5074920"/>
            <a:ext cx="5349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6"/>
                </a:solidFill>
                <a:latin typeface="Segoe UI"/>
              </a:rPr>
              <a:t>App served through the Ingress (localhost:8081 on the local cluster)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44068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92400E"/>
                </a:solidFill>
                <a:latin typeface="Segoe UI"/>
              </a:rPr>
              <a:t>Pending: AWS EKS</a:t>
            </a:r>
          </a:p>
          <a:p>
            <a:pPr algn="l"/>
            <a:r>
              <a:rPr sz="1000" b="0">
                <a:solidFill>
                  <a:srgbClr val="92400E"/>
                </a:solidFill>
                <a:latin typeface="Segoe UI"/>
              </a:rPr>
              <a:t>terraform plan / apply needs AWS credentials; then the same Helm chart deploys with storageClass gp2.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15 • 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C1F2E"/>
                </a:solidFill>
                <a:latin typeface="Segoe UI"/>
              </a:rPr>
              <a:t>From commit to observed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DevTrack Todo  •  Jinesh Gandhi  • 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6"/>
                </a:solidFill>
                <a:latin typeface="Segoe UI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54864" cy="1271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546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Todo app with React UI, FastAPI REST API, PostgreSQL and Alembic migrations.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764792"/>
            <a:ext cx="54864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37360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Automated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103120"/>
            <a:ext cx="31546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Tests, lint, image builds, Trivy scanning, GHCR publishing and GitOps image pinning.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64792"/>
            <a:ext cx="54864" cy="1271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737360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C1F2E"/>
                </a:solidFill>
                <a:latin typeface="Segoe UI"/>
              </a:rPr>
              <a:t>Operated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03120"/>
            <a:ext cx="31546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7086"/>
                </a:solidFill>
                <a:latin typeface="Segoe UI"/>
              </a:rPr>
              <a:t>Helm release on Kubernetes with Ingress, probes, Prometheus and Grafana; EKS defined in Terraform.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C1F2E"/>
                </a:solidFill>
                <a:latin typeface="Segoe UI"/>
              </a:rPr>
              <a:t>Next steps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Horizontal Pod Autoscaler on backend CPU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Amazon RDS instead of in-cluster 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90288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User accounts and per-user todo lists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590288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TLS with cert-manager + a custom domain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7216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Alerting rules (error rate, latency) to Slack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57216"/>
            <a:ext cx="54406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1F2E"/>
                </a:solidFill>
                <a:latin typeface="Segoe UI"/>
              </a:rPr>
              <a:t>Remote Terraform state in S3 with locking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Lesson: a feature is not finished until it is tested, scanned, deployed and observable.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818CF8"/>
                </a:solidFill>
                <a:latin typeface="Segoe UI"/>
              </a:rPr>
              <a:t>Questions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Jinesh Gandhi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4A8C3"/>
                </a:solidFill>
                <a:latin typeface="Consolas"/>
              </a:rPr>
              <a:t>github.com/jineshgandhi79/Devops-capstone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EA5E9"/>
                </a:solidFill>
                <a:latin typeface="Segoe UI"/>
              </a:rPr>
              <a:t>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Trivy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8B5CF6"/>
                </a:solidFill>
                <a:latin typeface="Segoe UI"/>
              </a:rPr>
              <a:t>Terraform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EA5E9"/>
                </a:solidFill>
                <a:latin typeface="Segoe UI"/>
              </a:rPr>
              <a:t>Helm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55778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